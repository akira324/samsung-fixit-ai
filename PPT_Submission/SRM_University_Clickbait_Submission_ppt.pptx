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A34A"/>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
        <p:nvSpPr>
          <p:cNvPr id="15" name="Rectangle 14"/>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0"/>
            <a:ext cx="164592"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502920"/>
            <a:ext cx="4754880" cy="411480"/>
          </a:xfrm>
          <a:prstGeom prst="rect">
            <a:avLst/>
          </a:prstGeom>
          <a:noFill/>
        </p:spPr>
        <p:txBody>
          <a:bodyPr wrap="square" anchor="t">
            <a:spAutoFit/>
          </a:bodyPr>
          <a:lstStyle/>
          <a:p>
            <a:pPr algn="l"/>
            <a:r>
              <a:rPr sz="1800" b="1">
                <a:solidFill>
                  <a:srgbClr val="2563EB"/>
                </a:solidFill>
                <a:latin typeface="Aptos"/>
              </a:rPr>
              <a:t>SAMSUNG PRISM</a:t>
            </a:r>
          </a:p>
        </p:txBody>
      </p:sp>
      <p:sp>
        <p:nvSpPr>
          <p:cNvPr id="18" name="TextBox 17"/>
          <p:cNvSpPr txBox="1"/>
          <p:nvPr/>
        </p:nvSpPr>
        <p:spPr>
          <a:xfrm>
            <a:off x="640080" y="932688"/>
            <a:ext cx="5303520" cy="411480"/>
          </a:xfrm>
          <a:prstGeom prst="rect">
            <a:avLst/>
          </a:prstGeom>
          <a:noFill/>
        </p:spPr>
        <p:txBody>
          <a:bodyPr wrap="square" anchor="t">
            <a:spAutoFit/>
          </a:bodyPr>
          <a:lstStyle/>
          <a:p>
            <a:pPr algn="l"/>
            <a:r>
              <a:rPr sz="1300" b="0">
                <a:solidFill>
                  <a:srgbClr val="64748B"/>
                </a:solidFill>
                <a:latin typeface="Aptos"/>
              </a:rPr>
              <a:t>Generative AI Hackathon</a:t>
            </a:r>
          </a:p>
        </p:txBody>
      </p:sp>
      <p:sp>
        <p:nvSpPr>
          <p:cNvPr id="19" name="TextBox 18"/>
          <p:cNvSpPr txBox="1"/>
          <p:nvPr/>
        </p:nvSpPr>
        <p:spPr>
          <a:xfrm>
            <a:off x="640080" y="1828800"/>
            <a:ext cx="7680960" cy="731520"/>
          </a:xfrm>
          <a:prstGeom prst="rect">
            <a:avLst/>
          </a:prstGeom>
          <a:noFill/>
        </p:spPr>
        <p:txBody>
          <a:bodyPr wrap="square" anchor="t">
            <a:spAutoFit/>
          </a:bodyPr>
          <a:lstStyle/>
          <a:p>
            <a:pPr algn="l"/>
            <a:r>
              <a:rPr sz="3400" b="1">
                <a:solidFill>
                  <a:srgbClr val="0F172A"/>
                </a:solidFill>
                <a:latin typeface="Aptos"/>
              </a:rPr>
              <a:t>Samsung Fixit AI</a:t>
            </a:r>
          </a:p>
        </p:txBody>
      </p:sp>
      <p:sp>
        <p:nvSpPr>
          <p:cNvPr id="20" name="TextBox 19"/>
          <p:cNvSpPr txBox="1"/>
          <p:nvPr/>
        </p:nvSpPr>
        <p:spPr>
          <a:xfrm>
            <a:off x="640080" y="2615184"/>
            <a:ext cx="8046720" cy="502920"/>
          </a:xfrm>
          <a:prstGeom prst="rect">
            <a:avLst/>
          </a:prstGeom>
          <a:noFill/>
        </p:spPr>
        <p:txBody>
          <a:bodyPr wrap="square" anchor="t">
            <a:spAutoFit/>
          </a:bodyPr>
          <a:lstStyle/>
          <a:p>
            <a:pPr algn="l"/>
            <a:r>
              <a:rPr sz="2000" b="0">
                <a:solidFill>
                  <a:srgbClr val="2563EB"/>
                </a:solidFill>
                <a:latin typeface="Aptos"/>
              </a:rPr>
              <a:t>Smart Guided Troubleshooting Engine</a:t>
            </a:r>
          </a:p>
        </p:txBody>
      </p:sp>
      <p:sp>
        <p:nvSpPr>
          <p:cNvPr id="21" name="Rectangle 20"/>
          <p:cNvSpPr/>
          <p:nvPr/>
        </p:nvSpPr>
        <p:spPr>
          <a:xfrm>
            <a:off x="640080" y="3337560"/>
            <a:ext cx="7223760"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3611880"/>
            <a:ext cx="1828800" cy="320040"/>
          </a:xfrm>
          <a:prstGeom prst="rect">
            <a:avLst/>
          </a:prstGeom>
          <a:noFill/>
        </p:spPr>
        <p:txBody>
          <a:bodyPr wrap="square" anchor="t">
            <a:spAutoFit/>
          </a:bodyPr>
          <a:lstStyle/>
          <a:p>
            <a:pPr algn="l"/>
            <a:r>
              <a:rPr sz="1200" b="1">
                <a:solidFill>
                  <a:srgbClr val="64748B"/>
                </a:solidFill>
                <a:latin typeface="Aptos"/>
              </a:rPr>
              <a:t>Theme 2</a:t>
            </a:r>
          </a:p>
        </p:txBody>
      </p:sp>
      <p:sp>
        <p:nvSpPr>
          <p:cNvPr id="23" name="TextBox 22"/>
          <p:cNvSpPr txBox="1"/>
          <p:nvPr/>
        </p:nvSpPr>
        <p:spPr>
          <a:xfrm>
            <a:off x="640080" y="3950208"/>
            <a:ext cx="5303520" cy="320040"/>
          </a:xfrm>
          <a:prstGeom prst="rect">
            <a:avLst/>
          </a:prstGeom>
          <a:noFill/>
        </p:spPr>
        <p:txBody>
          <a:bodyPr wrap="square" anchor="t">
            <a:spAutoFit/>
          </a:bodyPr>
          <a:lstStyle/>
          <a:p>
            <a:pPr algn="l"/>
            <a:r>
              <a:rPr sz="1400" b="1">
                <a:solidFill>
                  <a:srgbClr val="1E293B"/>
                </a:solidFill>
                <a:latin typeface="Aptos"/>
              </a:rPr>
              <a:t>Clickbait  •  SRM University KTR</a:t>
            </a:r>
          </a:p>
        </p:txBody>
      </p:sp>
      <p:sp>
        <p:nvSpPr>
          <p:cNvPr id="24" name="TextBox 23"/>
          <p:cNvSpPr txBox="1"/>
          <p:nvPr/>
        </p:nvSpPr>
        <p:spPr>
          <a:xfrm>
            <a:off x="640080" y="4407408"/>
            <a:ext cx="2743200" cy="292608"/>
          </a:xfrm>
          <a:prstGeom prst="rect">
            <a:avLst/>
          </a:prstGeom>
          <a:noFill/>
        </p:spPr>
        <p:txBody>
          <a:bodyPr wrap="square" anchor="t">
            <a:spAutoFit/>
          </a:bodyPr>
          <a:lstStyle/>
          <a:p>
            <a:pPr algn="l"/>
            <a:r>
              <a:rPr sz="1300" b="1">
                <a:solidFill>
                  <a:srgbClr val="1E293B"/>
                </a:solidFill>
                <a:latin typeface="Aptos"/>
              </a:rPr>
              <a:t>Aarush Jain</a:t>
            </a:r>
          </a:p>
        </p:txBody>
      </p:sp>
      <p:sp>
        <p:nvSpPr>
          <p:cNvPr id="25" name="TextBox 24"/>
          <p:cNvSpPr txBox="1"/>
          <p:nvPr/>
        </p:nvSpPr>
        <p:spPr>
          <a:xfrm>
            <a:off x="640080" y="4727448"/>
            <a:ext cx="6675120" cy="274320"/>
          </a:xfrm>
          <a:prstGeom prst="rect">
            <a:avLst/>
          </a:prstGeom>
          <a:noFill/>
        </p:spPr>
        <p:txBody>
          <a:bodyPr wrap="square" anchor="t">
            <a:spAutoFit/>
          </a:bodyPr>
          <a:lstStyle/>
          <a:p>
            <a:pPr algn="l"/>
            <a:r>
              <a:rPr sz="1000" b="0">
                <a:solidFill>
                  <a:srgbClr val="64748B"/>
                </a:solidFill>
                <a:latin typeface="Aptos"/>
              </a:rPr>
              <a:t>jainaarush444@gmail.com  •  aj0000@srmist.edu.in</a:t>
            </a:r>
          </a:p>
        </p:txBody>
      </p:sp>
      <p:sp>
        <p:nvSpPr>
          <p:cNvPr id="26" name="Rounded Rectangle 25"/>
          <p:cNvSpPr/>
          <p:nvPr/>
        </p:nvSpPr>
        <p:spPr>
          <a:xfrm>
            <a:off x="8732520" y="1051560"/>
            <a:ext cx="2194560" cy="347472"/>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05672" y="1120139"/>
            <a:ext cx="2048255" cy="182880"/>
          </a:xfrm>
          <a:prstGeom prst="rect">
            <a:avLst/>
          </a:prstGeom>
          <a:noFill/>
        </p:spPr>
        <p:txBody>
          <a:bodyPr wrap="square" anchor="t">
            <a:spAutoFit/>
          </a:bodyPr>
          <a:lstStyle/>
          <a:p>
            <a:pPr algn="ctr"/>
            <a:r>
              <a:rPr sz="1000" b="1">
                <a:solidFill>
                  <a:srgbClr val="0F172A"/>
                </a:solidFill>
                <a:latin typeface="Aptos"/>
              </a:rPr>
              <a:t>GROUNDED</a:t>
            </a:r>
          </a:p>
        </p:txBody>
      </p:sp>
      <p:sp>
        <p:nvSpPr>
          <p:cNvPr id="28" name="Rounded Rectangle 27"/>
          <p:cNvSpPr/>
          <p:nvPr/>
        </p:nvSpPr>
        <p:spPr>
          <a:xfrm>
            <a:off x="8732520" y="1572768"/>
            <a:ext cx="2194560" cy="347472"/>
          </a:xfrm>
          <a:prstGeom prst="roundRect">
            <a:avLst/>
          </a:prstGeom>
          <a:solidFill>
            <a:srgbClr val="E0F2FE"/>
          </a:solidFill>
          <a:ln>
            <a:solidFill>
              <a:srgbClr val="E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805672" y="1641348"/>
            <a:ext cx="2048255" cy="182880"/>
          </a:xfrm>
          <a:prstGeom prst="rect">
            <a:avLst/>
          </a:prstGeom>
          <a:noFill/>
        </p:spPr>
        <p:txBody>
          <a:bodyPr wrap="square" anchor="t">
            <a:spAutoFit/>
          </a:bodyPr>
          <a:lstStyle/>
          <a:p>
            <a:pPr algn="ctr"/>
            <a:r>
              <a:rPr sz="1000" b="1">
                <a:solidFill>
                  <a:srgbClr val="2563EB"/>
                </a:solidFill>
                <a:latin typeface="Aptos"/>
              </a:rPr>
              <a:t>DETERMINISTIC</a:t>
            </a:r>
          </a:p>
        </p:txBody>
      </p:sp>
      <p:sp>
        <p:nvSpPr>
          <p:cNvPr id="30" name="Rounded Rectangle 29"/>
          <p:cNvSpPr/>
          <p:nvPr/>
        </p:nvSpPr>
        <p:spPr>
          <a:xfrm>
            <a:off x="8732520" y="2093976"/>
            <a:ext cx="2194560" cy="347472"/>
          </a:xfrm>
          <a:prstGeom prst="roundRect">
            <a:avLst/>
          </a:prstGeom>
          <a:solidFill>
            <a:srgbClr val="DCFCE7"/>
          </a:solidFill>
          <a:ln>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805672" y="2162556"/>
            <a:ext cx="2048255" cy="182880"/>
          </a:xfrm>
          <a:prstGeom prst="rect">
            <a:avLst/>
          </a:prstGeom>
          <a:noFill/>
        </p:spPr>
        <p:txBody>
          <a:bodyPr wrap="square" anchor="t">
            <a:spAutoFit/>
          </a:bodyPr>
          <a:lstStyle/>
          <a:p>
            <a:pPr algn="ctr"/>
            <a:r>
              <a:rPr sz="1000" b="1">
                <a:solidFill>
                  <a:srgbClr val="16A34A"/>
                </a:solidFill>
                <a:latin typeface="Aptos"/>
              </a:rPr>
              <a:t>SAFE DEEPLINKS</a:t>
            </a:r>
          </a:p>
        </p:txBody>
      </p:sp>
      <p:sp>
        <p:nvSpPr>
          <p:cNvPr id="32" name="TextBox 31"/>
          <p:cNvSpPr txBox="1"/>
          <p:nvPr/>
        </p:nvSpPr>
        <p:spPr>
          <a:xfrm>
            <a:off x="8732520" y="5349240"/>
            <a:ext cx="2194560" cy="365760"/>
          </a:xfrm>
          <a:prstGeom prst="rect">
            <a:avLst/>
          </a:prstGeom>
          <a:noFill/>
        </p:spPr>
        <p:txBody>
          <a:bodyPr wrap="square" anchor="t">
            <a:spAutoFit/>
          </a:bodyPr>
          <a:lstStyle/>
          <a:p>
            <a:pPr algn="ctr"/>
            <a:r>
              <a:rPr sz="1400" b="1">
                <a:solidFill>
                  <a:srgbClr val="64748B"/>
                </a:solidFill>
                <a:latin typeface="Aptos"/>
              </a:rPr>
              <a:t>2026–27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1323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8961120" cy="384048"/>
          </a:xfrm>
          <a:prstGeom prst="rect">
            <a:avLst/>
          </a:prstGeom>
          <a:noFill/>
        </p:spPr>
        <p:txBody>
          <a:bodyPr wrap="square" anchor="t">
            <a:spAutoFit/>
          </a:bodyPr>
          <a:lstStyle/>
          <a:p>
            <a:pPr algn="l"/>
            <a:r>
              <a:rPr sz="2400" b="1">
                <a:solidFill>
                  <a:srgbClr val="FFFFFF"/>
                </a:solidFill>
                <a:latin typeface="Aptos"/>
              </a:rPr>
              <a:t>Theme &amp; Problem</a:t>
            </a:r>
          </a:p>
        </p:txBody>
      </p:sp>
      <p:sp>
        <p:nvSpPr>
          <p:cNvPr id="4" name="TextBox 3"/>
          <p:cNvSpPr txBox="1"/>
          <p:nvPr/>
        </p:nvSpPr>
        <p:spPr>
          <a:xfrm>
            <a:off x="10698480" y="192024"/>
            <a:ext cx="731520" cy="228600"/>
          </a:xfrm>
          <a:prstGeom prst="rect">
            <a:avLst/>
          </a:prstGeom>
          <a:noFill/>
        </p:spPr>
        <p:txBody>
          <a:bodyPr wrap="square" anchor="t">
            <a:spAutoFit/>
          </a:bodyPr>
          <a:lstStyle/>
          <a:p>
            <a:pPr algn="r"/>
            <a:r>
              <a:rPr sz="900" b="1">
                <a:solidFill>
                  <a:srgbClr val="94A3B8"/>
                </a:solidFill>
                <a:latin typeface="Aptos"/>
              </a:rPr>
              <a:t>01</a:t>
            </a:r>
          </a:p>
        </p:txBody>
      </p:sp>
      <p:sp>
        <p:nvSpPr>
          <p:cNvPr id="5" name="TextBox 4"/>
          <p:cNvSpPr txBox="1"/>
          <p:nvPr/>
        </p:nvSpPr>
        <p:spPr>
          <a:xfrm>
            <a:off x="640080" y="960120"/>
            <a:ext cx="6583680" cy="411480"/>
          </a:xfrm>
          <a:prstGeom prst="rect">
            <a:avLst/>
          </a:prstGeom>
          <a:noFill/>
        </p:spPr>
        <p:txBody>
          <a:bodyPr wrap="square" anchor="t">
            <a:spAutoFit/>
          </a:bodyPr>
          <a:lstStyle/>
          <a:p>
            <a:pPr algn="l"/>
            <a:r>
              <a:rPr sz="2400" b="1">
                <a:solidFill>
                  <a:srgbClr val="0F172A"/>
                </a:solidFill>
                <a:latin typeface="Aptos"/>
              </a:rPr>
              <a:t>Smart Guided Troubleshooting Engine</a:t>
            </a:r>
          </a:p>
        </p:txBody>
      </p:sp>
      <p:sp>
        <p:nvSpPr>
          <p:cNvPr id="6" name="TextBox 5"/>
          <p:cNvSpPr txBox="1"/>
          <p:nvPr/>
        </p:nvSpPr>
        <p:spPr>
          <a:xfrm>
            <a:off x="640080" y="1444752"/>
            <a:ext cx="10698480" cy="566928"/>
          </a:xfrm>
          <a:prstGeom prst="rect">
            <a:avLst/>
          </a:prstGeom>
          <a:noFill/>
        </p:spPr>
        <p:txBody>
          <a:bodyPr wrap="square" anchor="t">
            <a:spAutoFit/>
          </a:bodyPr>
          <a:lstStyle/>
          <a:p>
            <a:pPr algn="l"/>
            <a:r>
              <a:rPr sz="1800" b="0">
                <a:solidFill>
                  <a:srgbClr val="1E293B"/>
                </a:solidFill>
                <a:latin typeface="Aptos"/>
              </a:rPr>
              <a:t>Turn a natural-language device complaint into grounded, actionable troubleshooting — without inventing system actions.</a:t>
            </a:r>
          </a:p>
        </p:txBody>
      </p:sp>
      <p:sp>
        <p:nvSpPr>
          <p:cNvPr id="7" name="Rounded Rectangle 6"/>
          <p:cNvSpPr/>
          <p:nvPr/>
        </p:nvSpPr>
        <p:spPr>
          <a:xfrm>
            <a:off x="640080" y="2267712"/>
            <a:ext cx="5303520" cy="3246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542032"/>
            <a:ext cx="4297680" cy="274320"/>
          </a:xfrm>
          <a:prstGeom prst="rect">
            <a:avLst/>
          </a:prstGeom>
          <a:noFill/>
        </p:spPr>
        <p:txBody>
          <a:bodyPr wrap="square" anchor="t">
            <a:spAutoFit/>
          </a:bodyPr>
          <a:lstStyle/>
          <a:p>
            <a:pPr algn="l"/>
            <a:r>
              <a:rPr sz="1100" b="1">
                <a:solidFill>
                  <a:srgbClr val="2563EB"/>
                </a:solidFill>
                <a:latin typeface="Aptos"/>
              </a:rPr>
              <a:t>THE USER PROBLEM</a:t>
            </a:r>
          </a:p>
        </p:txBody>
      </p:sp>
      <p:sp>
        <p:nvSpPr>
          <p:cNvPr id="9" name="TextBox 8"/>
          <p:cNvSpPr txBox="1"/>
          <p:nvPr/>
        </p:nvSpPr>
        <p:spPr>
          <a:xfrm>
            <a:off x="914400" y="2907792"/>
            <a:ext cx="4572000" cy="2240280"/>
          </a:xfrm>
          <a:prstGeom prst="rect">
            <a:avLst/>
          </a:prstGeom>
          <a:noFill/>
        </p:spPr>
        <p:txBody>
          <a:bodyPr wrap="square">
            <a:spAutoFit/>
          </a:bodyPr>
          <a:lstStyle/>
          <a:p>
            <a:pPr>
              <a:spcAft>
                <a:spcPts val="700"/>
              </a:spcAft>
              <a:defRPr sz="1500">
                <a:solidFill>
                  <a:srgbClr val="1E293B"/>
                </a:solidFill>
                <a:latin typeface="Aptos"/>
              </a:defRPr>
            </a:pPr>
            <a:r>
              <a:t>• Users describe symptoms, not technical settings or exact device states.</a:t>
            </a:r>
          </a:p>
          <a:p>
            <a:pPr>
              <a:spcAft>
                <a:spcPts val="700"/>
              </a:spcAft>
              <a:defRPr sz="1500">
                <a:solidFill>
                  <a:srgbClr val="1E293B"/>
                </a:solidFill>
                <a:latin typeface="Aptos"/>
              </a:defRPr>
            </a:pPr>
            <a:r>
              <a:t>• Generic troubleshooting can be repetitive, unsafe, or difficult to follow.</a:t>
            </a:r>
          </a:p>
          <a:p>
            <a:pPr>
              <a:spcAft>
                <a:spcPts val="700"/>
              </a:spcAft>
              <a:defRPr sz="1500">
                <a:solidFill>
                  <a:srgbClr val="1E293B"/>
                </a:solidFill>
                <a:latin typeface="Aptos"/>
              </a:defRPr>
            </a:pPr>
            <a:r>
              <a:t>• A wrong system deeplink can send the user to an unrelated setting.</a:t>
            </a:r>
          </a:p>
          <a:p>
            <a:pPr>
              <a:spcAft>
                <a:spcPts val="700"/>
              </a:spcAft>
              <a:defRPr sz="1500">
                <a:solidFill>
                  <a:srgbClr val="1E293B"/>
                </a:solidFill>
                <a:latin typeface="Aptos"/>
              </a:defRPr>
            </a:pPr>
            <a:r>
              <a:t>• Support escalation should happen only when the source flow actually calls for it.</a:t>
            </a:r>
          </a:p>
        </p:txBody>
      </p:sp>
      <p:sp>
        <p:nvSpPr>
          <p:cNvPr id="10" name="Rounded Rectangle 9"/>
          <p:cNvSpPr/>
          <p:nvPr/>
        </p:nvSpPr>
        <p:spPr>
          <a:xfrm>
            <a:off x="6263640" y="2267712"/>
            <a:ext cx="5303520" cy="3246120"/>
          </a:xfrm>
          <a:prstGeom prst="round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60" y="2542032"/>
            <a:ext cx="4389120" cy="274320"/>
          </a:xfrm>
          <a:prstGeom prst="rect">
            <a:avLst/>
          </a:prstGeom>
          <a:noFill/>
        </p:spPr>
        <p:txBody>
          <a:bodyPr wrap="square" anchor="t">
            <a:spAutoFit/>
          </a:bodyPr>
          <a:lstStyle/>
          <a:p>
            <a:pPr algn="l"/>
            <a:r>
              <a:rPr sz="1100" b="1">
                <a:solidFill>
                  <a:srgbClr val="06B6D4"/>
                </a:solidFill>
                <a:latin typeface="Aptos"/>
              </a:rPr>
              <a:t>OUR THEME 2 FOCUS</a:t>
            </a:r>
          </a:p>
        </p:txBody>
      </p:sp>
      <p:sp>
        <p:nvSpPr>
          <p:cNvPr id="12" name="TextBox 11"/>
          <p:cNvSpPr txBox="1"/>
          <p:nvPr/>
        </p:nvSpPr>
        <p:spPr>
          <a:xfrm>
            <a:off x="6537960" y="2944368"/>
            <a:ext cx="4480560" cy="658368"/>
          </a:xfrm>
          <a:prstGeom prst="rect">
            <a:avLst/>
          </a:prstGeom>
          <a:noFill/>
        </p:spPr>
        <p:txBody>
          <a:bodyPr wrap="square" anchor="t">
            <a:spAutoFit/>
          </a:bodyPr>
          <a:lstStyle/>
          <a:p>
            <a:pPr algn="l"/>
            <a:r>
              <a:rPr sz="2200" b="1">
                <a:solidFill>
                  <a:srgbClr val="FFFFFF"/>
                </a:solidFill>
                <a:latin typeface="Aptos"/>
              </a:rPr>
              <a:t>Grounded guidance + deterministic deeplink resolution</a:t>
            </a:r>
          </a:p>
        </p:txBody>
      </p:sp>
      <p:sp>
        <p:nvSpPr>
          <p:cNvPr id="13" name="TextBox 12"/>
          <p:cNvSpPr txBox="1"/>
          <p:nvPr/>
        </p:nvSpPr>
        <p:spPr>
          <a:xfrm>
            <a:off x="6537960" y="3794760"/>
            <a:ext cx="4434840" cy="868680"/>
          </a:xfrm>
          <a:prstGeom prst="rect">
            <a:avLst/>
          </a:prstGeom>
          <a:noFill/>
        </p:spPr>
        <p:txBody>
          <a:bodyPr wrap="square" anchor="t">
            <a:spAutoFit/>
          </a:bodyPr>
          <a:lstStyle/>
          <a:p>
            <a:pPr algn="l"/>
            <a:r>
              <a:rPr sz="1500" b="0">
                <a:solidFill>
                  <a:srgbClr val="E2E8F0"/>
                </a:solidFill>
                <a:latin typeface="Aptos"/>
              </a:rPr>
              <a:t>The Theme 2 path uses the official SIIS responses and the official deeplink catalog as controlled sources.</a:t>
            </a:r>
          </a:p>
        </p:txBody>
      </p:sp>
      <p:sp>
        <p:nvSpPr>
          <p:cNvPr id="14" name="Rounded Rectangle 13"/>
          <p:cNvSpPr/>
          <p:nvPr/>
        </p:nvSpPr>
        <p:spPr>
          <a:xfrm>
            <a:off x="6537960" y="4892040"/>
            <a:ext cx="1234440" cy="347472"/>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11112" y="4960620"/>
            <a:ext cx="1088136" cy="182880"/>
          </a:xfrm>
          <a:prstGeom prst="rect">
            <a:avLst/>
          </a:prstGeom>
          <a:noFill/>
        </p:spPr>
        <p:txBody>
          <a:bodyPr wrap="square" anchor="t">
            <a:spAutoFit/>
          </a:bodyPr>
          <a:lstStyle/>
          <a:p>
            <a:pPr algn="ctr"/>
            <a:r>
              <a:rPr sz="1000" b="1">
                <a:solidFill>
                  <a:srgbClr val="06B6D4"/>
                </a:solidFill>
                <a:latin typeface="Aptos"/>
              </a:rPr>
              <a:t>SIIS</a:t>
            </a:r>
          </a:p>
        </p:txBody>
      </p:sp>
      <p:sp>
        <p:nvSpPr>
          <p:cNvPr id="16" name="Rounded Rectangle 15"/>
          <p:cNvSpPr/>
          <p:nvPr/>
        </p:nvSpPr>
        <p:spPr>
          <a:xfrm>
            <a:off x="7909560" y="4892040"/>
            <a:ext cx="1508760" cy="347472"/>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82712" y="4960620"/>
            <a:ext cx="1362456" cy="182880"/>
          </a:xfrm>
          <a:prstGeom prst="rect">
            <a:avLst/>
          </a:prstGeom>
          <a:noFill/>
        </p:spPr>
        <p:txBody>
          <a:bodyPr wrap="square" anchor="t">
            <a:spAutoFit/>
          </a:bodyPr>
          <a:lstStyle/>
          <a:p>
            <a:pPr algn="ctr"/>
            <a:r>
              <a:rPr sz="1000" b="1">
                <a:solidFill>
                  <a:srgbClr val="06B6D4"/>
                </a:solidFill>
                <a:latin typeface="Aptos"/>
              </a:rPr>
              <a:t>CATALOG</a:t>
            </a:r>
          </a:p>
        </p:txBody>
      </p:sp>
      <p:sp>
        <p:nvSpPr>
          <p:cNvPr id="18" name="Rounded Rectangle 17"/>
          <p:cNvSpPr/>
          <p:nvPr/>
        </p:nvSpPr>
        <p:spPr>
          <a:xfrm>
            <a:off x="9555480" y="4892040"/>
            <a:ext cx="1508760" cy="347472"/>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28632" y="4960620"/>
            <a:ext cx="1362456" cy="182880"/>
          </a:xfrm>
          <a:prstGeom prst="rect">
            <a:avLst/>
          </a:prstGeom>
          <a:noFill/>
        </p:spPr>
        <p:txBody>
          <a:bodyPr wrap="square" anchor="t">
            <a:spAutoFit/>
          </a:bodyPr>
          <a:lstStyle/>
          <a:p>
            <a:pPr algn="ctr"/>
            <a:r>
              <a:rPr sz="1000" b="1">
                <a:solidFill>
                  <a:srgbClr val="06B6D4"/>
                </a:solidFill>
                <a:latin typeface="Aptos"/>
              </a:rPr>
              <a:t>VALIDATION</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1323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8961120" cy="384048"/>
          </a:xfrm>
          <a:prstGeom prst="rect">
            <a:avLst/>
          </a:prstGeom>
          <a:noFill/>
        </p:spPr>
        <p:txBody>
          <a:bodyPr wrap="square" anchor="t">
            <a:spAutoFit/>
          </a:bodyPr>
          <a:lstStyle/>
          <a:p>
            <a:pPr algn="l"/>
            <a:r>
              <a:rPr sz="2400" b="1">
                <a:solidFill>
                  <a:srgbClr val="FFFFFF"/>
                </a:solidFill>
                <a:latin typeface="Aptos"/>
              </a:rPr>
              <a:t>Existing Solutions &amp; Gaps</a:t>
            </a:r>
          </a:p>
        </p:txBody>
      </p:sp>
      <p:sp>
        <p:nvSpPr>
          <p:cNvPr id="4" name="TextBox 3"/>
          <p:cNvSpPr txBox="1"/>
          <p:nvPr/>
        </p:nvSpPr>
        <p:spPr>
          <a:xfrm>
            <a:off x="10698480" y="192024"/>
            <a:ext cx="731520" cy="228600"/>
          </a:xfrm>
          <a:prstGeom prst="rect">
            <a:avLst/>
          </a:prstGeom>
          <a:noFill/>
        </p:spPr>
        <p:txBody>
          <a:bodyPr wrap="square" anchor="t">
            <a:spAutoFit/>
          </a:bodyPr>
          <a:lstStyle/>
          <a:p>
            <a:pPr algn="r"/>
            <a:r>
              <a:rPr sz="900" b="1">
                <a:solidFill>
                  <a:srgbClr val="94A3B8"/>
                </a:solidFill>
                <a:latin typeface="Aptos"/>
              </a:rPr>
              <a:t>02</a:t>
            </a:r>
          </a:p>
        </p:txBody>
      </p:sp>
      <p:sp>
        <p:nvSpPr>
          <p:cNvPr id="5" name="TextBox 4"/>
          <p:cNvSpPr txBox="1"/>
          <p:nvPr/>
        </p:nvSpPr>
        <p:spPr>
          <a:xfrm>
            <a:off x="640080" y="960120"/>
            <a:ext cx="7132320" cy="411480"/>
          </a:xfrm>
          <a:prstGeom prst="rect">
            <a:avLst/>
          </a:prstGeom>
          <a:noFill/>
        </p:spPr>
        <p:txBody>
          <a:bodyPr wrap="square" anchor="t">
            <a:spAutoFit/>
          </a:bodyPr>
          <a:lstStyle/>
          <a:p>
            <a:pPr algn="l"/>
            <a:r>
              <a:rPr sz="2400" b="1">
                <a:solidFill>
                  <a:srgbClr val="0F172A"/>
                </a:solidFill>
                <a:latin typeface="Aptos"/>
              </a:rPr>
              <a:t>Where conventional troubleshooting breaks down</a:t>
            </a:r>
          </a:p>
        </p:txBody>
      </p:sp>
      <p:sp>
        <p:nvSpPr>
          <p:cNvPr id="6" name="Rounded Rectangle 5"/>
          <p:cNvSpPr/>
          <p:nvPr/>
        </p:nvSpPr>
        <p:spPr>
          <a:xfrm>
            <a:off x="640080" y="1572768"/>
            <a:ext cx="3474720" cy="41605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47088"/>
            <a:ext cx="2743200" cy="274320"/>
          </a:xfrm>
          <a:prstGeom prst="rect">
            <a:avLst/>
          </a:prstGeom>
          <a:noFill/>
        </p:spPr>
        <p:txBody>
          <a:bodyPr wrap="square" anchor="t">
            <a:spAutoFit/>
          </a:bodyPr>
          <a:lstStyle/>
          <a:p>
            <a:pPr algn="l"/>
            <a:r>
              <a:rPr sz="1100" b="1">
                <a:solidFill>
                  <a:srgbClr val="2563EB"/>
                </a:solidFill>
                <a:latin typeface="Aptos"/>
              </a:rPr>
              <a:t>GENERIC HELP</a:t>
            </a:r>
          </a:p>
        </p:txBody>
      </p:sp>
      <p:sp>
        <p:nvSpPr>
          <p:cNvPr id="8" name="TextBox 7"/>
          <p:cNvSpPr txBox="1"/>
          <p:nvPr/>
        </p:nvSpPr>
        <p:spPr>
          <a:xfrm>
            <a:off x="914400" y="2331720"/>
            <a:ext cx="2743200" cy="2377440"/>
          </a:xfrm>
          <a:prstGeom prst="rect">
            <a:avLst/>
          </a:prstGeom>
          <a:noFill/>
        </p:spPr>
        <p:txBody>
          <a:bodyPr wrap="square">
            <a:spAutoFit/>
          </a:bodyPr>
          <a:lstStyle/>
          <a:p>
            <a:pPr>
              <a:spcAft>
                <a:spcPts val="700"/>
              </a:spcAft>
              <a:defRPr sz="1500">
                <a:solidFill>
                  <a:srgbClr val="1E293B"/>
                </a:solidFill>
                <a:latin typeface="Aptos"/>
              </a:defRPr>
            </a:pPr>
            <a:r>
              <a:t>• Long static articles</a:t>
            </a:r>
          </a:p>
          <a:p>
            <a:pPr>
              <a:spcAft>
                <a:spcPts val="700"/>
              </a:spcAft>
              <a:defRPr sz="1500">
                <a:solidFill>
                  <a:srgbClr val="1E293B"/>
                </a:solidFill>
                <a:latin typeface="Aptos"/>
              </a:defRPr>
            </a:pPr>
            <a:r>
              <a:t>• High user effort</a:t>
            </a:r>
          </a:p>
          <a:p>
            <a:pPr>
              <a:spcAft>
                <a:spcPts val="700"/>
              </a:spcAft>
              <a:defRPr sz="1500">
                <a:solidFill>
                  <a:srgbClr val="1E293B"/>
                </a:solidFill>
                <a:latin typeface="Aptos"/>
              </a:defRPr>
            </a:pPr>
            <a:r>
              <a:t>• Weak personalization</a:t>
            </a:r>
          </a:p>
          <a:p>
            <a:pPr>
              <a:spcAft>
                <a:spcPts val="700"/>
              </a:spcAft>
              <a:defRPr sz="1500">
                <a:solidFill>
                  <a:srgbClr val="1E293B"/>
                </a:solidFill>
                <a:latin typeface="Aptos"/>
              </a:defRPr>
            </a:pPr>
            <a:r>
              <a:t>• No direct system action</a:t>
            </a:r>
          </a:p>
        </p:txBody>
      </p:sp>
      <p:sp>
        <p:nvSpPr>
          <p:cNvPr id="9" name="Rounded Rectangle 8"/>
          <p:cNvSpPr/>
          <p:nvPr/>
        </p:nvSpPr>
        <p:spPr>
          <a:xfrm>
            <a:off x="4361688" y="1572768"/>
            <a:ext cx="3474720" cy="41605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36008" y="1847088"/>
            <a:ext cx="2743200" cy="274320"/>
          </a:xfrm>
          <a:prstGeom prst="rect">
            <a:avLst/>
          </a:prstGeom>
          <a:noFill/>
        </p:spPr>
        <p:txBody>
          <a:bodyPr wrap="square" anchor="t">
            <a:spAutoFit/>
          </a:bodyPr>
          <a:lstStyle/>
          <a:p>
            <a:pPr algn="l"/>
            <a:r>
              <a:rPr sz="1100" b="1">
                <a:solidFill>
                  <a:srgbClr val="D97706"/>
                </a:solidFill>
                <a:latin typeface="Aptos"/>
              </a:rPr>
              <a:t>LLM-ONLY GUIDANCE</a:t>
            </a:r>
          </a:p>
        </p:txBody>
      </p:sp>
      <p:sp>
        <p:nvSpPr>
          <p:cNvPr id="11" name="TextBox 10"/>
          <p:cNvSpPr txBox="1"/>
          <p:nvPr/>
        </p:nvSpPr>
        <p:spPr>
          <a:xfrm>
            <a:off x="4636008" y="2331720"/>
            <a:ext cx="2743200" cy="2377440"/>
          </a:xfrm>
          <a:prstGeom prst="rect">
            <a:avLst/>
          </a:prstGeom>
          <a:noFill/>
        </p:spPr>
        <p:txBody>
          <a:bodyPr wrap="square">
            <a:spAutoFit/>
          </a:bodyPr>
          <a:lstStyle/>
          <a:p>
            <a:pPr>
              <a:spcAft>
                <a:spcPts val="700"/>
              </a:spcAft>
              <a:defRPr sz="1500">
                <a:solidFill>
                  <a:srgbClr val="1E293B"/>
                </a:solidFill>
                <a:latin typeface="Aptos"/>
              </a:defRPr>
            </a:pPr>
            <a:r>
              <a:t>• Can hallucinate actions</a:t>
            </a:r>
          </a:p>
          <a:p>
            <a:pPr>
              <a:spcAft>
                <a:spcPts val="700"/>
              </a:spcAft>
              <a:defRPr sz="1500">
                <a:solidFill>
                  <a:srgbClr val="1E293B"/>
                </a:solidFill>
                <a:latin typeface="Aptos"/>
              </a:defRPr>
            </a:pPr>
            <a:r>
              <a:t>• May suggest unsupported settings</a:t>
            </a:r>
          </a:p>
          <a:p>
            <a:pPr>
              <a:spcAft>
                <a:spcPts val="700"/>
              </a:spcAft>
              <a:defRPr sz="1500">
                <a:solidFill>
                  <a:srgbClr val="1E293B"/>
                </a:solidFill>
                <a:latin typeface="Aptos"/>
              </a:defRPr>
            </a:pPr>
            <a:r>
              <a:t>• Deeplinks are hard to verify</a:t>
            </a:r>
          </a:p>
          <a:p>
            <a:pPr>
              <a:spcAft>
                <a:spcPts val="700"/>
              </a:spcAft>
              <a:defRPr sz="1500">
                <a:solidFill>
                  <a:srgbClr val="1E293B"/>
                </a:solidFill>
                <a:latin typeface="Aptos"/>
              </a:defRPr>
            </a:pPr>
            <a:r>
              <a:t>• Inconsistent outputs</a:t>
            </a:r>
          </a:p>
        </p:txBody>
      </p:sp>
      <p:sp>
        <p:nvSpPr>
          <p:cNvPr id="12" name="Rounded Rectangle 11"/>
          <p:cNvSpPr/>
          <p:nvPr/>
        </p:nvSpPr>
        <p:spPr>
          <a:xfrm>
            <a:off x="8083296" y="1572768"/>
            <a:ext cx="3474720" cy="41605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57616" y="1847088"/>
            <a:ext cx="2743200" cy="274320"/>
          </a:xfrm>
          <a:prstGeom prst="rect">
            <a:avLst/>
          </a:prstGeom>
          <a:noFill/>
        </p:spPr>
        <p:txBody>
          <a:bodyPr wrap="square" anchor="t">
            <a:spAutoFit/>
          </a:bodyPr>
          <a:lstStyle/>
          <a:p>
            <a:pPr algn="l"/>
            <a:r>
              <a:rPr sz="1100" b="1">
                <a:solidFill>
                  <a:srgbClr val="DC2626"/>
                </a:solidFill>
                <a:latin typeface="Aptos"/>
              </a:rPr>
              <a:t>UNCONTROLLED LINKS</a:t>
            </a:r>
          </a:p>
        </p:txBody>
      </p:sp>
      <p:sp>
        <p:nvSpPr>
          <p:cNvPr id="14" name="TextBox 13"/>
          <p:cNvSpPr txBox="1"/>
          <p:nvPr/>
        </p:nvSpPr>
        <p:spPr>
          <a:xfrm>
            <a:off x="8357616" y="2331720"/>
            <a:ext cx="2743200" cy="2377440"/>
          </a:xfrm>
          <a:prstGeom prst="rect">
            <a:avLst/>
          </a:prstGeom>
          <a:noFill/>
        </p:spPr>
        <p:txBody>
          <a:bodyPr wrap="square">
            <a:spAutoFit/>
          </a:bodyPr>
          <a:lstStyle/>
          <a:p>
            <a:pPr>
              <a:spcAft>
                <a:spcPts val="700"/>
              </a:spcAft>
              <a:defRPr sz="1500">
                <a:solidFill>
                  <a:srgbClr val="1E293B"/>
                </a:solidFill>
                <a:latin typeface="Aptos"/>
              </a:defRPr>
            </a:pPr>
            <a:r>
              <a:t>• Wrong target setting</a:t>
            </a:r>
          </a:p>
          <a:p>
            <a:pPr>
              <a:spcAft>
                <a:spcPts val="700"/>
              </a:spcAft>
              <a:defRPr sz="1500">
                <a:solidFill>
                  <a:srgbClr val="1E293B"/>
                </a:solidFill>
                <a:latin typeface="Aptos"/>
              </a:defRPr>
            </a:pPr>
            <a:r>
              <a:t>• Broken or stale URI</a:t>
            </a:r>
          </a:p>
          <a:p>
            <a:pPr>
              <a:spcAft>
                <a:spcPts val="700"/>
              </a:spcAft>
              <a:defRPr sz="1500">
                <a:solidFill>
                  <a:srgbClr val="1E293B"/>
                </a:solidFill>
                <a:latin typeface="Aptos"/>
              </a:defRPr>
            </a:pPr>
            <a:r>
              <a:t>• No registry guarantee</a:t>
            </a:r>
          </a:p>
          <a:p>
            <a:pPr>
              <a:spcAft>
                <a:spcPts val="700"/>
              </a:spcAft>
              <a:defRPr sz="1500">
                <a:solidFill>
                  <a:srgbClr val="1E293B"/>
                </a:solidFill>
                <a:latin typeface="Aptos"/>
              </a:defRPr>
            </a:pPr>
            <a:r>
              <a:t>• Hard to audit</a:t>
            </a:r>
          </a:p>
        </p:txBody>
      </p:sp>
      <p:sp>
        <p:nvSpPr>
          <p:cNvPr id="15" name="TextBox 14"/>
          <p:cNvSpPr txBox="1"/>
          <p:nvPr/>
        </p:nvSpPr>
        <p:spPr>
          <a:xfrm>
            <a:off x="640080" y="5961888"/>
            <a:ext cx="1828800" cy="228600"/>
          </a:xfrm>
          <a:prstGeom prst="rect">
            <a:avLst/>
          </a:prstGeom>
          <a:noFill/>
        </p:spPr>
        <p:txBody>
          <a:bodyPr wrap="square" anchor="t">
            <a:spAutoFit/>
          </a:bodyPr>
          <a:lstStyle/>
          <a:p>
            <a:pPr algn="l"/>
            <a:r>
              <a:rPr sz="1000" b="1">
                <a:solidFill>
                  <a:srgbClr val="64748B"/>
                </a:solidFill>
                <a:latin typeface="Aptos"/>
              </a:rPr>
              <a:t>Design requirement</a:t>
            </a:r>
          </a:p>
        </p:txBody>
      </p:sp>
      <p:sp>
        <p:nvSpPr>
          <p:cNvPr id="16" name="TextBox 15"/>
          <p:cNvSpPr txBox="1"/>
          <p:nvPr/>
        </p:nvSpPr>
        <p:spPr>
          <a:xfrm>
            <a:off x="2148840" y="5925312"/>
            <a:ext cx="8961120" cy="320040"/>
          </a:xfrm>
          <a:prstGeom prst="rect">
            <a:avLst/>
          </a:prstGeom>
          <a:noFill/>
        </p:spPr>
        <p:txBody>
          <a:bodyPr wrap="square" anchor="t">
            <a:spAutoFit/>
          </a:bodyPr>
          <a:lstStyle/>
          <a:p>
            <a:pPr algn="l"/>
            <a:r>
              <a:rPr sz="1400" b="1">
                <a:solidFill>
                  <a:srgbClr val="0F172A"/>
                </a:solidFill>
                <a:latin typeface="Aptos"/>
              </a:rPr>
              <a:t>Guidance must stay grounded; actions must stay registry-locked.</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p:nvSpPr>
        <p:spPr>
          <a:xfrm>
            <a:off x="0" y="0"/>
            <a:ext cx="12191695" cy="71323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8961120" cy="384048"/>
          </a:xfrm>
          <a:prstGeom prst="rect">
            <a:avLst/>
          </a:prstGeom>
          <a:noFill/>
        </p:spPr>
        <p:txBody>
          <a:bodyPr wrap="square" anchor="t">
            <a:spAutoFit/>
          </a:bodyPr>
          <a:lstStyle/>
          <a:p>
            <a:pPr algn="l"/>
            <a:r>
              <a:rPr sz="2400" b="1">
                <a:solidFill>
                  <a:srgbClr val="FFFFFF"/>
                </a:solidFill>
                <a:latin typeface="Aptos"/>
              </a:rPr>
              <a:t>Our Solution &amp; Architecture</a:t>
            </a:r>
          </a:p>
        </p:txBody>
      </p:sp>
      <p:sp>
        <p:nvSpPr>
          <p:cNvPr id="4" name="TextBox 3"/>
          <p:cNvSpPr txBox="1"/>
          <p:nvPr/>
        </p:nvSpPr>
        <p:spPr>
          <a:xfrm>
            <a:off x="10698480" y="192024"/>
            <a:ext cx="731520" cy="228600"/>
          </a:xfrm>
          <a:prstGeom prst="rect">
            <a:avLst/>
          </a:prstGeom>
          <a:noFill/>
        </p:spPr>
        <p:txBody>
          <a:bodyPr wrap="square" anchor="t">
            <a:spAutoFit/>
          </a:bodyPr>
          <a:lstStyle/>
          <a:p>
            <a:pPr algn="r"/>
            <a:r>
              <a:rPr sz="900" b="1">
                <a:solidFill>
                  <a:srgbClr val="94A3B8"/>
                </a:solidFill>
                <a:latin typeface="Aptos"/>
              </a:rPr>
              <a:t>03</a:t>
            </a:r>
          </a:p>
        </p:txBody>
      </p:sp>
      <p:sp>
        <p:nvSpPr>
          <p:cNvPr id="5" name="TextBox 4"/>
          <p:cNvSpPr txBox="1"/>
          <p:nvPr/>
        </p:nvSpPr>
        <p:spPr>
          <a:xfrm>
            <a:off x="640080" y="932688"/>
            <a:ext cx="7132320" cy="411480"/>
          </a:xfrm>
          <a:prstGeom prst="rect">
            <a:avLst/>
          </a:prstGeom>
          <a:noFill/>
        </p:spPr>
        <p:txBody>
          <a:bodyPr wrap="square" anchor="t">
            <a:spAutoFit/>
          </a:bodyPr>
          <a:lstStyle/>
          <a:p>
            <a:pPr algn="l"/>
            <a:r>
              <a:rPr sz="2400" b="1">
                <a:solidFill>
                  <a:srgbClr val="0F172A"/>
                </a:solidFill>
                <a:latin typeface="Aptos"/>
              </a:rPr>
              <a:t>Two pipelines, one troubleshooting experience</a:t>
            </a:r>
          </a:p>
        </p:txBody>
      </p:sp>
      <p:sp>
        <p:nvSpPr>
          <p:cNvPr id="6" name="Rounded Rectangle 5"/>
          <p:cNvSpPr/>
          <p:nvPr/>
        </p:nvSpPr>
        <p:spPr>
          <a:xfrm>
            <a:off x="640080" y="1572768"/>
            <a:ext cx="5349240" cy="91440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773936"/>
            <a:ext cx="1920240" cy="228600"/>
          </a:xfrm>
          <a:prstGeom prst="rect">
            <a:avLst/>
          </a:prstGeom>
          <a:noFill/>
        </p:spPr>
        <p:txBody>
          <a:bodyPr wrap="square" anchor="t">
            <a:spAutoFit/>
          </a:bodyPr>
          <a:lstStyle/>
          <a:p>
            <a:pPr algn="l"/>
            <a:r>
              <a:rPr sz="1100" b="1">
                <a:solidFill>
                  <a:srgbClr val="2563EB"/>
                </a:solidFill>
                <a:latin typeface="Aptos"/>
              </a:rPr>
              <a:t>STANDARD PIPELINE</a:t>
            </a:r>
          </a:p>
        </p:txBody>
      </p:sp>
      <p:sp>
        <p:nvSpPr>
          <p:cNvPr id="8" name="TextBox 7"/>
          <p:cNvSpPr txBox="1"/>
          <p:nvPr/>
        </p:nvSpPr>
        <p:spPr>
          <a:xfrm>
            <a:off x="868680" y="2029968"/>
            <a:ext cx="4754880" cy="274320"/>
          </a:xfrm>
          <a:prstGeom prst="rect">
            <a:avLst/>
          </a:prstGeom>
          <a:noFill/>
        </p:spPr>
        <p:txBody>
          <a:bodyPr wrap="square" anchor="t">
            <a:spAutoFit/>
          </a:bodyPr>
          <a:lstStyle/>
          <a:p>
            <a:pPr algn="l"/>
            <a:r>
              <a:rPr sz="1100" b="0">
                <a:solidFill>
                  <a:srgbClr val="1E293B"/>
                </a:solidFill>
                <a:latin typeface="Aptos"/>
              </a:rPr>
              <a:t>Query → cache → LLM enrichment → KB retrieval → reasoning → validation → deeplink</a:t>
            </a:r>
          </a:p>
        </p:txBody>
      </p:sp>
      <p:sp>
        <p:nvSpPr>
          <p:cNvPr id="9" name="Rounded Rectangle 8"/>
          <p:cNvSpPr/>
          <p:nvPr/>
        </p:nvSpPr>
        <p:spPr>
          <a:xfrm>
            <a:off x="6199632" y="1572768"/>
            <a:ext cx="5349240" cy="914400"/>
          </a:xfrm>
          <a:prstGeom prst="roundRect">
            <a:avLst/>
          </a:prstGeom>
          <a:solidFill>
            <a:srgbClr val="ECFDF5"/>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28232" y="1773936"/>
            <a:ext cx="1920240" cy="228600"/>
          </a:xfrm>
          <a:prstGeom prst="rect">
            <a:avLst/>
          </a:prstGeom>
          <a:noFill/>
        </p:spPr>
        <p:txBody>
          <a:bodyPr wrap="square" anchor="t">
            <a:spAutoFit/>
          </a:bodyPr>
          <a:lstStyle/>
          <a:p>
            <a:pPr algn="l"/>
            <a:r>
              <a:rPr sz="1100" b="1">
                <a:solidFill>
                  <a:srgbClr val="16A34A"/>
                </a:solidFill>
                <a:latin typeface="Aptos"/>
              </a:rPr>
              <a:t>THEME 2 PIPELINE</a:t>
            </a:r>
          </a:p>
        </p:txBody>
      </p:sp>
      <p:sp>
        <p:nvSpPr>
          <p:cNvPr id="11" name="TextBox 10"/>
          <p:cNvSpPr txBox="1"/>
          <p:nvPr/>
        </p:nvSpPr>
        <p:spPr>
          <a:xfrm>
            <a:off x="6428232" y="2029968"/>
            <a:ext cx="4754880" cy="274320"/>
          </a:xfrm>
          <a:prstGeom prst="rect">
            <a:avLst/>
          </a:prstGeom>
          <a:noFill/>
        </p:spPr>
        <p:txBody>
          <a:bodyPr wrap="square" anchor="t">
            <a:spAutoFit/>
          </a:bodyPr>
          <a:lstStyle/>
          <a:p>
            <a:pPr algn="l"/>
            <a:r>
              <a:rPr sz="1100" b="0">
                <a:solidFill>
                  <a:srgbClr val="1E293B"/>
                </a:solidFill>
                <a:latin typeface="Aptos"/>
              </a:rPr>
              <a:t>Query → SIIS retrieval → relevance gate → step extraction → catalog match → schema validation</a:t>
            </a:r>
          </a:p>
        </p:txBody>
      </p:sp>
      <p:sp>
        <p:nvSpPr>
          <p:cNvPr id="12" name="Rounded Rectangle 11"/>
          <p:cNvSpPr/>
          <p:nvPr/>
        </p:nvSpPr>
        <p:spPr>
          <a:xfrm>
            <a:off x="658368" y="2880360"/>
            <a:ext cx="3337560" cy="102412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2959" y="3081528"/>
            <a:ext cx="411480" cy="41148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59" y="3154679"/>
            <a:ext cx="411480" cy="182880"/>
          </a:xfrm>
          <a:prstGeom prst="rect">
            <a:avLst/>
          </a:prstGeom>
          <a:noFill/>
        </p:spPr>
        <p:txBody>
          <a:bodyPr wrap="square" anchor="t">
            <a:spAutoFit/>
          </a:bodyPr>
          <a:lstStyle/>
          <a:p>
            <a:pPr algn="ctr"/>
            <a:r>
              <a:rPr sz="1100" b="1">
                <a:solidFill>
                  <a:srgbClr val="FFFFFF"/>
                </a:solidFill>
                <a:latin typeface="Aptos"/>
              </a:rPr>
              <a:t>1</a:t>
            </a:r>
          </a:p>
        </p:txBody>
      </p:sp>
      <p:sp>
        <p:nvSpPr>
          <p:cNvPr id="15" name="TextBox 14"/>
          <p:cNvSpPr txBox="1"/>
          <p:nvPr/>
        </p:nvSpPr>
        <p:spPr>
          <a:xfrm>
            <a:off x="1408176" y="3044952"/>
            <a:ext cx="2240280" cy="228600"/>
          </a:xfrm>
          <a:prstGeom prst="rect">
            <a:avLst/>
          </a:prstGeom>
          <a:noFill/>
        </p:spPr>
        <p:txBody>
          <a:bodyPr wrap="square" anchor="t">
            <a:spAutoFit/>
          </a:bodyPr>
          <a:lstStyle/>
          <a:p>
            <a:pPr algn="l"/>
            <a:r>
              <a:rPr sz="1400" b="1">
                <a:solidFill>
                  <a:srgbClr val="0F172A"/>
                </a:solidFill>
                <a:latin typeface="Aptos"/>
              </a:rPr>
              <a:t>Query</a:t>
            </a:r>
          </a:p>
        </p:txBody>
      </p:sp>
      <p:sp>
        <p:nvSpPr>
          <p:cNvPr id="16" name="TextBox 15"/>
          <p:cNvSpPr txBox="1"/>
          <p:nvPr/>
        </p:nvSpPr>
        <p:spPr>
          <a:xfrm>
            <a:off x="1408176" y="3346704"/>
            <a:ext cx="2331720" cy="365760"/>
          </a:xfrm>
          <a:prstGeom prst="rect">
            <a:avLst/>
          </a:prstGeom>
          <a:noFill/>
        </p:spPr>
        <p:txBody>
          <a:bodyPr wrap="square" anchor="t">
            <a:spAutoFit/>
          </a:bodyPr>
          <a:lstStyle/>
          <a:p>
            <a:pPr algn="l"/>
            <a:r>
              <a:rPr sz="1000" b="0">
                <a:solidFill>
                  <a:srgbClr val="64748B"/>
                </a:solidFill>
                <a:latin typeface="Aptos"/>
              </a:rPr>
              <a:t>Natural-language complaint</a:t>
            </a:r>
          </a:p>
        </p:txBody>
      </p:sp>
      <p:sp>
        <p:nvSpPr>
          <p:cNvPr id="17" name="Rounded Rectangle 16"/>
          <p:cNvSpPr/>
          <p:nvPr/>
        </p:nvSpPr>
        <p:spPr>
          <a:xfrm>
            <a:off x="4361688" y="2880360"/>
            <a:ext cx="3337560" cy="102412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526279" y="3081528"/>
            <a:ext cx="411480" cy="41148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26279" y="3154679"/>
            <a:ext cx="411480" cy="182880"/>
          </a:xfrm>
          <a:prstGeom prst="rect">
            <a:avLst/>
          </a:prstGeom>
          <a:noFill/>
        </p:spPr>
        <p:txBody>
          <a:bodyPr wrap="square" anchor="t">
            <a:spAutoFit/>
          </a:bodyPr>
          <a:lstStyle/>
          <a:p>
            <a:pPr algn="ctr"/>
            <a:r>
              <a:rPr sz="1100" b="1">
                <a:solidFill>
                  <a:srgbClr val="FFFFFF"/>
                </a:solidFill>
                <a:latin typeface="Aptos"/>
              </a:rPr>
              <a:t>2</a:t>
            </a:r>
          </a:p>
        </p:txBody>
      </p:sp>
      <p:sp>
        <p:nvSpPr>
          <p:cNvPr id="20" name="TextBox 19"/>
          <p:cNvSpPr txBox="1"/>
          <p:nvPr/>
        </p:nvSpPr>
        <p:spPr>
          <a:xfrm>
            <a:off x="5111496" y="3044952"/>
            <a:ext cx="2240280" cy="228600"/>
          </a:xfrm>
          <a:prstGeom prst="rect">
            <a:avLst/>
          </a:prstGeom>
          <a:noFill/>
        </p:spPr>
        <p:txBody>
          <a:bodyPr wrap="square" anchor="t">
            <a:spAutoFit/>
          </a:bodyPr>
          <a:lstStyle/>
          <a:p>
            <a:pPr algn="l"/>
            <a:r>
              <a:rPr sz="1400" b="1">
                <a:solidFill>
                  <a:srgbClr val="0F172A"/>
                </a:solidFill>
                <a:latin typeface="Aptos"/>
              </a:rPr>
              <a:t>SIIS</a:t>
            </a:r>
          </a:p>
        </p:txBody>
      </p:sp>
      <p:sp>
        <p:nvSpPr>
          <p:cNvPr id="21" name="TextBox 20"/>
          <p:cNvSpPr txBox="1"/>
          <p:nvPr/>
        </p:nvSpPr>
        <p:spPr>
          <a:xfrm>
            <a:off x="5111496" y="3346704"/>
            <a:ext cx="2331720" cy="365760"/>
          </a:xfrm>
          <a:prstGeom prst="rect">
            <a:avLst/>
          </a:prstGeom>
          <a:noFill/>
        </p:spPr>
        <p:txBody>
          <a:bodyPr wrap="square" anchor="t">
            <a:spAutoFit/>
          </a:bodyPr>
          <a:lstStyle/>
          <a:p>
            <a:pPr algn="l"/>
            <a:r>
              <a:rPr sz="1000" b="0">
                <a:solidFill>
                  <a:srgbClr val="64748B"/>
                </a:solidFill>
                <a:latin typeface="Aptos"/>
              </a:rPr>
              <a:t>20 official response rows</a:t>
            </a:r>
          </a:p>
        </p:txBody>
      </p:sp>
      <p:sp>
        <p:nvSpPr>
          <p:cNvPr id="22" name="Rounded Rectangle 21"/>
          <p:cNvSpPr/>
          <p:nvPr/>
        </p:nvSpPr>
        <p:spPr>
          <a:xfrm>
            <a:off x="8065008" y="2880360"/>
            <a:ext cx="3337560" cy="102412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229600" y="3081528"/>
            <a:ext cx="411480" cy="41148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0" y="3154679"/>
            <a:ext cx="411480" cy="182880"/>
          </a:xfrm>
          <a:prstGeom prst="rect">
            <a:avLst/>
          </a:prstGeom>
          <a:noFill/>
        </p:spPr>
        <p:txBody>
          <a:bodyPr wrap="square" anchor="t">
            <a:spAutoFit/>
          </a:bodyPr>
          <a:lstStyle/>
          <a:p>
            <a:pPr algn="ctr"/>
            <a:r>
              <a:rPr sz="1100" b="1">
                <a:solidFill>
                  <a:srgbClr val="FFFFFF"/>
                </a:solidFill>
                <a:latin typeface="Aptos"/>
              </a:rPr>
              <a:t>3</a:t>
            </a:r>
          </a:p>
        </p:txBody>
      </p:sp>
      <p:sp>
        <p:nvSpPr>
          <p:cNvPr id="25" name="TextBox 24"/>
          <p:cNvSpPr txBox="1"/>
          <p:nvPr/>
        </p:nvSpPr>
        <p:spPr>
          <a:xfrm>
            <a:off x="8814816" y="3044952"/>
            <a:ext cx="2240280" cy="228600"/>
          </a:xfrm>
          <a:prstGeom prst="rect">
            <a:avLst/>
          </a:prstGeom>
          <a:noFill/>
        </p:spPr>
        <p:txBody>
          <a:bodyPr wrap="square" anchor="t">
            <a:spAutoFit/>
          </a:bodyPr>
          <a:lstStyle/>
          <a:p>
            <a:pPr algn="l"/>
            <a:r>
              <a:rPr sz="1400" b="1">
                <a:solidFill>
                  <a:srgbClr val="0F172A"/>
                </a:solidFill>
                <a:latin typeface="Aptos"/>
              </a:rPr>
              <a:t>Gate</a:t>
            </a:r>
          </a:p>
        </p:txBody>
      </p:sp>
      <p:sp>
        <p:nvSpPr>
          <p:cNvPr id="26" name="TextBox 25"/>
          <p:cNvSpPr txBox="1"/>
          <p:nvPr/>
        </p:nvSpPr>
        <p:spPr>
          <a:xfrm>
            <a:off x="8814816" y="3346704"/>
            <a:ext cx="2331720" cy="365760"/>
          </a:xfrm>
          <a:prstGeom prst="rect">
            <a:avLst/>
          </a:prstGeom>
          <a:noFill/>
        </p:spPr>
        <p:txBody>
          <a:bodyPr wrap="square" anchor="t">
            <a:spAutoFit/>
          </a:bodyPr>
          <a:lstStyle/>
          <a:p>
            <a:pPr algn="l"/>
            <a:r>
              <a:rPr sz="1000" b="0">
                <a:solidFill>
                  <a:srgbClr val="64748B"/>
                </a:solidFill>
                <a:latin typeface="Aptos"/>
              </a:rPr>
              <a:t>Conservative relevance threshold</a:t>
            </a:r>
          </a:p>
        </p:txBody>
      </p:sp>
      <p:sp>
        <p:nvSpPr>
          <p:cNvPr id="27" name="Rounded Rectangle 26"/>
          <p:cNvSpPr/>
          <p:nvPr/>
        </p:nvSpPr>
        <p:spPr>
          <a:xfrm>
            <a:off x="658368" y="4297680"/>
            <a:ext cx="3337560" cy="102412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22959" y="4498848"/>
            <a:ext cx="411480" cy="41148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59" y="4572000"/>
            <a:ext cx="411480" cy="182880"/>
          </a:xfrm>
          <a:prstGeom prst="rect">
            <a:avLst/>
          </a:prstGeom>
          <a:noFill/>
        </p:spPr>
        <p:txBody>
          <a:bodyPr wrap="square" anchor="t">
            <a:spAutoFit/>
          </a:bodyPr>
          <a:lstStyle/>
          <a:p>
            <a:pPr algn="ctr"/>
            <a:r>
              <a:rPr sz="1100" b="1">
                <a:solidFill>
                  <a:srgbClr val="FFFFFF"/>
                </a:solidFill>
                <a:latin typeface="Aptos"/>
              </a:rPr>
              <a:t>4</a:t>
            </a:r>
          </a:p>
        </p:txBody>
      </p:sp>
      <p:sp>
        <p:nvSpPr>
          <p:cNvPr id="30" name="TextBox 29"/>
          <p:cNvSpPr txBox="1"/>
          <p:nvPr/>
        </p:nvSpPr>
        <p:spPr>
          <a:xfrm>
            <a:off x="1408176" y="4462272"/>
            <a:ext cx="2240280" cy="228600"/>
          </a:xfrm>
          <a:prstGeom prst="rect">
            <a:avLst/>
          </a:prstGeom>
          <a:noFill/>
        </p:spPr>
        <p:txBody>
          <a:bodyPr wrap="square" anchor="t">
            <a:spAutoFit/>
          </a:bodyPr>
          <a:lstStyle/>
          <a:p>
            <a:pPr algn="l"/>
            <a:r>
              <a:rPr sz="1400" b="1">
                <a:solidFill>
                  <a:srgbClr val="0F172A"/>
                </a:solidFill>
                <a:latin typeface="Aptos"/>
              </a:rPr>
              <a:t>Steps</a:t>
            </a:r>
          </a:p>
        </p:txBody>
      </p:sp>
      <p:sp>
        <p:nvSpPr>
          <p:cNvPr id="31" name="TextBox 30"/>
          <p:cNvSpPr txBox="1"/>
          <p:nvPr/>
        </p:nvSpPr>
        <p:spPr>
          <a:xfrm>
            <a:off x="1408176" y="4764024"/>
            <a:ext cx="2331720" cy="365760"/>
          </a:xfrm>
          <a:prstGeom prst="rect">
            <a:avLst/>
          </a:prstGeom>
          <a:noFill/>
        </p:spPr>
        <p:txBody>
          <a:bodyPr wrap="square" anchor="t">
            <a:spAutoFit/>
          </a:bodyPr>
          <a:lstStyle/>
          <a:p>
            <a:pPr algn="l"/>
            <a:r>
              <a:rPr sz="1000" b="0">
                <a:solidFill>
                  <a:srgbClr val="64748B"/>
                </a:solidFill>
                <a:latin typeface="Aptos"/>
              </a:rPr>
              <a:t>Grounded step/action extraction</a:t>
            </a:r>
          </a:p>
        </p:txBody>
      </p:sp>
      <p:sp>
        <p:nvSpPr>
          <p:cNvPr id="32" name="Rounded Rectangle 31"/>
          <p:cNvSpPr/>
          <p:nvPr/>
        </p:nvSpPr>
        <p:spPr>
          <a:xfrm>
            <a:off x="4361688" y="4297680"/>
            <a:ext cx="3337560" cy="102412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4526279" y="4498848"/>
            <a:ext cx="411480" cy="41148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26279" y="4572000"/>
            <a:ext cx="411480" cy="182880"/>
          </a:xfrm>
          <a:prstGeom prst="rect">
            <a:avLst/>
          </a:prstGeom>
          <a:noFill/>
        </p:spPr>
        <p:txBody>
          <a:bodyPr wrap="square" anchor="t">
            <a:spAutoFit/>
          </a:bodyPr>
          <a:lstStyle/>
          <a:p>
            <a:pPr algn="ctr"/>
            <a:r>
              <a:rPr sz="1100" b="1">
                <a:solidFill>
                  <a:srgbClr val="FFFFFF"/>
                </a:solidFill>
                <a:latin typeface="Aptos"/>
              </a:rPr>
              <a:t>5</a:t>
            </a:r>
          </a:p>
        </p:txBody>
      </p:sp>
      <p:sp>
        <p:nvSpPr>
          <p:cNvPr id="35" name="TextBox 34"/>
          <p:cNvSpPr txBox="1"/>
          <p:nvPr/>
        </p:nvSpPr>
        <p:spPr>
          <a:xfrm>
            <a:off x="5111496" y="4462272"/>
            <a:ext cx="2240280" cy="228600"/>
          </a:xfrm>
          <a:prstGeom prst="rect">
            <a:avLst/>
          </a:prstGeom>
          <a:noFill/>
        </p:spPr>
        <p:txBody>
          <a:bodyPr wrap="square" anchor="t">
            <a:spAutoFit/>
          </a:bodyPr>
          <a:lstStyle/>
          <a:p>
            <a:pPr algn="l"/>
            <a:r>
              <a:rPr sz="1400" b="1">
                <a:solidFill>
                  <a:srgbClr val="0F172A"/>
                </a:solidFill>
                <a:latin typeface="Aptos"/>
              </a:rPr>
              <a:t>Catalog</a:t>
            </a:r>
          </a:p>
        </p:txBody>
      </p:sp>
      <p:sp>
        <p:nvSpPr>
          <p:cNvPr id="36" name="TextBox 35"/>
          <p:cNvSpPr txBox="1"/>
          <p:nvPr/>
        </p:nvSpPr>
        <p:spPr>
          <a:xfrm>
            <a:off x="5111496" y="4764024"/>
            <a:ext cx="2331720" cy="365760"/>
          </a:xfrm>
          <a:prstGeom prst="rect">
            <a:avLst/>
          </a:prstGeom>
          <a:noFill/>
        </p:spPr>
        <p:txBody>
          <a:bodyPr wrap="square" anchor="t">
            <a:spAutoFit/>
          </a:bodyPr>
          <a:lstStyle/>
          <a:p>
            <a:pPr algn="l"/>
            <a:r>
              <a:rPr sz="1000" b="0">
                <a:solidFill>
                  <a:srgbClr val="64748B"/>
                </a:solidFill>
                <a:latin typeface="Aptos"/>
              </a:rPr>
              <a:t>578 official deeplink entries</a:t>
            </a:r>
          </a:p>
        </p:txBody>
      </p:sp>
      <p:sp>
        <p:nvSpPr>
          <p:cNvPr id="37" name="Rounded Rectangle 36"/>
          <p:cNvSpPr/>
          <p:nvPr/>
        </p:nvSpPr>
        <p:spPr>
          <a:xfrm>
            <a:off x="8065008" y="4297680"/>
            <a:ext cx="3337560" cy="102412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8229600" y="4498848"/>
            <a:ext cx="411480" cy="41148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0" y="4572000"/>
            <a:ext cx="411480" cy="182880"/>
          </a:xfrm>
          <a:prstGeom prst="rect">
            <a:avLst/>
          </a:prstGeom>
          <a:noFill/>
        </p:spPr>
        <p:txBody>
          <a:bodyPr wrap="square" anchor="t">
            <a:spAutoFit/>
          </a:bodyPr>
          <a:lstStyle/>
          <a:p>
            <a:pPr algn="ctr"/>
            <a:r>
              <a:rPr sz="1100" b="1">
                <a:solidFill>
                  <a:srgbClr val="FFFFFF"/>
                </a:solidFill>
                <a:latin typeface="Aptos"/>
              </a:rPr>
              <a:t>6</a:t>
            </a:r>
          </a:p>
        </p:txBody>
      </p:sp>
      <p:sp>
        <p:nvSpPr>
          <p:cNvPr id="40" name="TextBox 39"/>
          <p:cNvSpPr txBox="1"/>
          <p:nvPr/>
        </p:nvSpPr>
        <p:spPr>
          <a:xfrm>
            <a:off x="8814816" y="4462272"/>
            <a:ext cx="2240280" cy="228600"/>
          </a:xfrm>
          <a:prstGeom prst="rect">
            <a:avLst/>
          </a:prstGeom>
          <a:noFill/>
        </p:spPr>
        <p:txBody>
          <a:bodyPr wrap="square" anchor="t">
            <a:spAutoFit/>
          </a:bodyPr>
          <a:lstStyle/>
          <a:p>
            <a:pPr algn="l"/>
            <a:r>
              <a:rPr sz="1400" b="1">
                <a:solidFill>
                  <a:srgbClr val="0F172A"/>
                </a:solidFill>
                <a:latin typeface="Aptos"/>
              </a:rPr>
              <a:t>Validate</a:t>
            </a:r>
          </a:p>
        </p:txBody>
      </p:sp>
      <p:sp>
        <p:nvSpPr>
          <p:cNvPr id="41" name="TextBox 40"/>
          <p:cNvSpPr txBox="1"/>
          <p:nvPr/>
        </p:nvSpPr>
        <p:spPr>
          <a:xfrm>
            <a:off x="8814816" y="4764024"/>
            <a:ext cx="2331720" cy="365760"/>
          </a:xfrm>
          <a:prstGeom prst="rect">
            <a:avLst/>
          </a:prstGeom>
          <a:noFill/>
        </p:spPr>
        <p:txBody>
          <a:bodyPr wrap="square" anchor="t">
            <a:spAutoFit/>
          </a:bodyPr>
          <a:lstStyle/>
          <a:p>
            <a:pPr algn="l"/>
            <a:r>
              <a:rPr sz="1000" b="0">
                <a:solidFill>
                  <a:srgbClr val="64748B"/>
                </a:solidFill>
                <a:latin typeface="Aptos"/>
              </a:rPr>
              <a:t>Schema + URI integrity</a:t>
            </a:r>
          </a:p>
        </p:txBody>
      </p:sp>
      <p:sp>
        <p:nvSpPr>
          <p:cNvPr id="42" name="TextBox 41"/>
          <p:cNvSpPr txBox="1"/>
          <p:nvPr/>
        </p:nvSpPr>
        <p:spPr>
          <a:xfrm>
            <a:off x="685800" y="5925312"/>
            <a:ext cx="10789920" cy="320040"/>
          </a:xfrm>
          <a:prstGeom prst="rect">
            <a:avLst/>
          </a:prstGeom>
          <a:noFill/>
        </p:spPr>
        <p:txBody>
          <a:bodyPr wrap="square" anchor="t">
            <a:spAutoFit/>
          </a:bodyPr>
          <a:lstStyle/>
          <a:p>
            <a:pPr algn="ctr"/>
            <a:r>
              <a:rPr sz="1200" b="1">
                <a:solidFill>
                  <a:srgbClr val="DC2626"/>
                </a:solidFill>
                <a:latin typeface="Aptos"/>
              </a:rPr>
              <a:t>Key boundary: Theme 2 does not blend the legacy knowledge base into SIIS-grounded troubleshooting.</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1323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8961120" cy="384048"/>
          </a:xfrm>
          <a:prstGeom prst="rect">
            <a:avLst/>
          </a:prstGeom>
          <a:noFill/>
        </p:spPr>
        <p:txBody>
          <a:bodyPr wrap="square" anchor="t">
            <a:spAutoFit/>
          </a:bodyPr>
          <a:lstStyle/>
          <a:p>
            <a:pPr algn="l"/>
            <a:r>
              <a:rPr sz="2400" b="1">
                <a:solidFill>
                  <a:srgbClr val="FFFFFF"/>
                </a:solidFill>
                <a:latin typeface="Aptos"/>
              </a:rPr>
              <a:t>Demo &amp; Product Walkthrough</a:t>
            </a:r>
          </a:p>
        </p:txBody>
      </p:sp>
      <p:sp>
        <p:nvSpPr>
          <p:cNvPr id="4" name="TextBox 3"/>
          <p:cNvSpPr txBox="1"/>
          <p:nvPr/>
        </p:nvSpPr>
        <p:spPr>
          <a:xfrm>
            <a:off x="10698480" y="192024"/>
            <a:ext cx="731520" cy="228600"/>
          </a:xfrm>
          <a:prstGeom prst="rect">
            <a:avLst/>
          </a:prstGeom>
          <a:noFill/>
        </p:spPr>
        <p:txBody>
          <a:bodyPr wrap="square" anchor="t">
            <a:spAutoFit/>
          </a:bodyPr>
          <a:lstStyle/>
          <a:p>
            <a:pPr algn="r"/>
            <a:r>
              <a:rPr sz="900" b="1">
                <a:solidFill>
                  <a:srgbClr val="94A3B8"/>
                </a:solidFill>
                <a:latin typeface="Aptos"/>
              </a:rPr>
              <a:t>04</a:t>
            </a:r>
          </a:p>
        </p:txBody>
      </p:sp>
      <p:sp>
        <p:nvSpPr>
          <p:cNvPr id="5" name="TextBox 4"/>
          <p:cNvSpPr txBox="1"/>
          <p:nvPr/>
        </p:nvSpPr>
        <p:spPr>
          <a:xfrm>
            <a:off x="640080" y="941832"/>
            <a:ext cx="6217920" cy="411480"/>
          </a:xfrm>
          <a:prstGeom prst="rect">
            <a:avLst/>
          </a:prstGeom>
          <a:noFill/>
        </p:spPr>
        <p:txBody>
          <a:bodyPr wrap="square" anchor="t">
            <a:spAutoFit/>
          </a:bodyPr>
          <a:lstStyle/>
          <a:p>
            <a:pPr algn="l"/>
            <a:r>
              <a:rPr sz="2400" b="1">
                <a:solidFill>
                  <a:srgbClr val="0F172A"/>
                </a:solidFill>
                <a:latin typeface="Aptos"/>
              </a:rPr>
              <a:t>One UI, two routing paths</a:t>
            </a:r>
          </a:p>
        </p:txBody>
      </p:sp>
      <p:sp>
        <p:nvSpPr>
          <p:cNvPr id="6" name="Rounded Rectangle 5"/>
          <p:cNvSpPr/>
          <p:nvPr/>
        </p:nvSpPr>
        <p:spPr>
          <a:xfrm>
            <a:off x="685800" y="1572768"/>
            <a:ext cx="594360"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09928"/>
            <a:ext cx="594360" cy="201168"/>
          </a:xfrm>
          <a:prstGeom prst="rect">
            <a:avLst/>
          </a:prstGeom>
          <a:noFill/>
        </p:spPr>
        <p:txBody>
          <a:bodyPr wrap="square" anchor="t">
            <a:spAutoFit/>
          </a:bodyPr>
          <a:lstStyle/>
          <a:p>
            <a:pPr algn="ctr"/>
            <a:r>
              <a:rPr sz="1000" b="1">
                <a:solidFill>
                  <a:srgbClr val="FFFFFF"/>
                </a:solidFill>
                <a:latin typeface="Aptos"/>
              </a:rPr>
              <a:t>01</a:t>
            </a:r>
          </a:p>
        </p:txBody>
      </p:sp>
      <p:sp>
        <p:nvSpPr>
          <p:cNvPr id="8" name="TextBox 7"/>
          <p:cNvSpPr txBox="1"/>
          <p:nvPr/>
        </p:nvSpPr>
        <p:spPr>
          <a:xfrm>
            <a:off x="1508760" y="1572768"/>
            <a:ext cx="4023360" cy="256032"/>
          </a:xfrm>
          <a:prstGeom prst="rect">
            <a:avLst/>
          </a:prstGeom>
          <a:noFill/>
        </p:spPr>
        <p:txBody>
          <a:bodyPr wrap="square" anchor="t">
            <a:spAutoFit/>
          </a:bodyPr>
          <a:lstStyle/>
          <a:p>
            <a:pPr algn="l"/>
            <a:r>
              <a:rPr sz="1400" b="1">
                <a:solidFill>
                  <a:srgbClr val="0F172A"/>
                </a:solidFill>
                <a:latin typeface="Aptos"/>
              </a:rPr>
              <a:t>User describes a symptom</a:t>
            </a:r>
          </a:p>
        </p:txBody>
      </p:sp>
      <p:sp>
        <p:nvSpPr>
          <p:cNvPr id="9" name="TextBox 8"/>
          <p:cNvSpPr txBox="1"/>
          <p:nvPr/>
        </p:nvSpPr>
        <p:spPr>
          <a:xfrm>
            <a:off x="1508760" y="1883664"/>
            <a:ext cx="7863840" cy="292608"/>
          </a:xfrm>
          <a:prstGeom prst="rect">
            <a:avLst/>
          </a:prstGeom>
          <a:noFill/>
        </p:spPr>
        <p:txBody>
          <a:bodyPr wrap="square" anchor="t">
            <a:spAutoFit/>
          </a:bodyPr>
          <a:lstStyle/>
          <a:p>
            <a:pPr algn="l"/>
            <a:r>
              <a:rPr sz="1100" b="0">
                <a:solidFill>
                  <a:srgbClr val="64748B"/>
                </a:solidFill>
                <a:latin typeface="Aptos"/>
              </a:rPr>
              <a:t>“My phone is stuck on a black screen…”</a:t>
            </a:r>
          </a:p>
        </p:txBody>
      </p:sp>
      <p:sp>
        <p:nvSpPr>
          <p:cNvPr id="10" name="Rounded Rectangle 9"/>
          <p:cNvSpPr/>
          <p:nvPr/>
        </p:nvSpPr>
        <p:spPr>
          <a:xfrm>
            <a:off x="685800" y="2414016"/>
            <a:ext cx="594360"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551176"/>
            <a:ext cx="594360" cy="201168"/>
          </a:xfrm>
          <a:prstGeom prst="rect">
            <a:avLst/>
          </a:prstGeom>
          <a:noFill/>
        </p:spPr>
        <p:txBody>
          <a:bodyPr wrap="square" anchor="t">
            <a:spAutoFit/>
          </a:bodyPr>
          <a:lstStyle/>
          <a:p>
            <a:pPr algn="ctr"/>
            <a:r>
              <a:rPr sz="1000" b="1">
                <a:solidFill>
                  <a:srgbClr val="FFFFFF"/>
                </a:solidFill>
                <a:latin typeface="Aptos"/>
              </a:rPr>
              <a:t>02</a:t>
            </a:r>
          </a:p>
        </p:txBody>
      </p:sp>
      <p:sp>
        <p:nvSpPr>
          <p:cNvPr id="12" name="TextBox 11"/>
          <p:cNvSpPr txBox="1"/>
          <p:nvPr/>
        </p:nvSpPr>
        <p:spPr>
          <a:xfrm>
            <a:off x="1508760" y="2414016"/>
            <a:ext cx="4023360" cy="256032"/>
          </a:xfrm>
          <a:prstGeom prst="rect">
            <a:avLst/>
          </a:prstGeom>
          <a:noFill/>
        </p:spPr>
        <p:txBody>
          <a:bodyPr wrap="square" anchor="t">
            <a:spAutoFit/>
          </a:bodyPr>
          <a:lstStyle/>
          <a:p>
            <a:pPr algn="l"/>
            <a:r>
              <a:rPr sz="1400" b="1">
                <a:solidFill>
                  <a:srgbClr val="0F172A"/>
                </a:solidFill>
                <a:latin typeface="Aptos"/>
              </a:rPr>
              <a:t>Router selects the right pipeline</a:t>
            </a:r>
          </a:p>
        </p:txBody>
      </p:sp>
      <p:sp>
        <p:nvSpPr>
          <p:cNvPr id="13" name="TextBox 12"/>
          <p:cNvSpPr txBox="1"/>
          <p:nvPr/>
        </p:nvSpPr>
        <p:spPr>
          <a:xfrm>
            <a:off x="1508760" y="2724912"/>
            <a:ext cx="7863840" cy="292608"/>
          </a:xfrm>
          <a:prstGeom prst="rect">
            <a:avLst/>
          </a:prstGeom>
          <a:noFill/>
        </p:spPr>
        <p:txBody>
          <a:bodyPr wrap="square" anchor="t">
            <a:spAutoFit/>
          </a:bodyPr>
          <a:lstStyle/>
          <a:p>
            <a:pPr algn="l"/>
            <a:r>
              <a:rPr sz="1100" b="0">
                <a:solidFill>
                  <a:srgbClr val="64748B"/>
                </a:solidFill>
                <a:latin typeface="Aptos"/>
              </a:rPr>
              <a:t>Theme 2 when the complaint matches its symptom/intent patterns</a:t>
            </a:r>
          </a:p>
        </p:txBody>
      </p:sp>
      <p:sp>
        <p:nvSpPr>
          <p:cNvPr id="14" name="Rounded Rectangle 13"/>
          <p:cNvSpPr/>
          <p:nvPr/>
        </p:nvSpPr>
        <p:spPr>
          <a:xfrm>
            <a:off x="685800" y="3255264"/>
            <a:ext cx="594360"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392424"/>
            <a:ext cx="594360" cy="201168"/>
          </a:xfrm>
          <a:prstGeom prst="rect">
            <a:avLst/>
          </a:prstGeom>
          <a:noFill/>
        </p:spPr>
        <p:txBody>
          <a:bodyPr wrap="square" anchor="t">
            <a:spAutoFit/>
          </a:bodyPr>
          <a:lstStyle/>
          <a:p>
            <a:pPr algn="ctr"/>
            <a:r>
              <a:rPr sz="1000" b="1">
                <a:solidFill>
                  <a:srgbClr val="FFFFFF"/>
                </a:solidFill>
                <a:latin typeface="Aptos"/>
              </a:rPr>
              <a:t>03</a:t>
            </a:r>
          </a:p>
        </p:txBody>
      </p:sp>
      <p:sp>
        <p:nvSpPr>
          <p:cNvPr id="16" name="TextBox 15"/>
          <p:cNvSpPr txBox="1"/>
          <p:nvPr/>
        </p:nvSpPr>
        <p:spPr>
          <a:xfrm>
            <a:off x="1508760" y="3255264"/>
            <a:ext cx="4023360" cy="256032"/>
          </a:xfrm>
          <a:prstGeom prst="rect">
            <a:avLst/>
          </a:prstGeom>
          <a:noFill/>
        </p:spPr>
        <p:txBody>
          <a:bodyPr wrap="square" anchor="t">
            <a:spAutoFit/>
          </a:bodyPr>
          <a:lstStyle/>
          <a:p>
            <a:pPr algn="l"/>
            <a:r>
              <a:rPr sz="1400" b="1">
                <a:solidFill>
                  <a:srgbClr val="0F172A"/>
                </a:solidFill>
                <a:latin typeface="Aptos"/>
              </a:rPr>
              <a:t>Grounded troubleshooting is returned</a:t>
            </a:r>
          </a:p>
        </p:txBody>
      </p:sp>
      <p:sp>
        <p:nvSpPr>
          <p:cNvPr id="17" name="TextBox 16"/>
          <p:cNvSpPr txBox="1"/>
          <p:nvPr/>
        </p:nvSpPr>
        <p:spPr>
          <a:xfrm>
            <a:off x="1508760" y="3566160"/>
            <a:ext cx="7863840" cy="292608"/>
          </a:xfrm>
          <a:prstGeom prst="rect">
            <a:avLst/>
          </a:prstGeom>
          <a:noFill/>
        </p:spPr>
        <p:txBody>
          <a:bodyPr wrap="square" anchor="t">
            <a:spAutoFit/>
          </a:bodyPr>
          <a:lstStyle/>
          <a:p>
            <a:pPr algn="l"/>
            <a:r>
              <a:rPr sz="1100" b="0">
                <a:solidFill>
                  <a:srgbClr val="64748B"/>
                </a:solidFill>
                <a:latin typeface="Aptos"/>
              </a:rPr>
              <a:t>Steps and actions come from the selected SIIS response</a:t>
            </a:r>
          </a:p>
        </p:txBody>
      </p:sp>
      <p:sp>
        <p:nvSpPr>
          <p:cNvPr id="18" name="Rounded Rectangle 17"/>
          <p:cNvSpPr/>
          <p:nvPr/>
        </p:nvSpPr>
        <p:spPr>
          <a:xfrm>
            <a:off x="685800" y="4096512"/>
            <a:ext cx="594360"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233672"/>
            <a:ext cx="594360" cy="201168"/>
          </a:xfrm>
          <a:prstGeom prst="rect">
            <a:avLst/>
          </a:prstGeom>
          <a:noFill/>
        </p:spPr>
        <p:txBody>
          <a:bodyPr wrap="square" anchor="t">
            <a:spAutoFit/>
          </a:bodyPr>
          <a:lstStyle/>
          <a:p>
            <a:pPr algn="ctr"/>
            <a:r>
              <a:rPr sz="1000" b="1">
                <a:solidFill>
                  <a:srgbClr val="FFFFFF"/>
                </a:solidFill>
                <a:latin typeface="Aptos"/>
              </a:rPr>
              <a:t>04</a:t>
            </a:r>
          </a:p>
        </p:txBody>
      </p:sp>
      <p:sp>
        <p:nvSpPr>
          <p:cNvPr id="20" name="TextBox 19"/>
          <p:cNvSpPr txBox="1"/>
          <p:nvPr/>
        </p:nvSpPr>
        <p:spPr>
          <a:xfrm>
            <a:off x="1508760" y="4096512"/>
            <a:ext cx="4023360" cy="256032"/>
          </a:xfrm>
          <a:prstGeom prst="rect">
            <a:avLst/>
          </a:prstGeom>
          <a:noFill/>
        </p:spPr>
        <p:txBody>
          <a:bodyPr wrap="square" anchor="t">
            <a:spAutoFit/>
          </a:bodyPr>
          <a:lstStyle/>
          <a:p>
            <a:pPr algn="l"/>
            <a:r>
              <a:rPr sz="1400" b="1">
                <a:solidFill>
                  <a:srgbClr val="0F172A"/>
                </a:solidFill>
                <a:latin typeface="Aptos"/>
              </a:rPr>
              <a:t>Deeplinks are resolved safely</a:t>
            </a:r>
          </a:p>
        </p:txBody>
      </p:sp>
      <p:sp>
        <p:nvSpPr>
          <p:cNvPr id="21" name="TextBox 20"/>
          <p:cNvSpPr txBox="1"/>
          <p:nvPr/>
        </p:nvSpPr>
        <p:spPr>
          <a:xfrm>
            <a:off x="1508760" y="4407408"/>
            <a:ext cx="7863840" cy="292608"/>
          </a:xfrm>
          <a:prstGeom prst="rect">
            <a:avLst/>
          </a:prstGeom>
          <a:noFill/>
        </p:spPr>
        <p:txBody>
          <a:bodyPr wrap="square" anchor="t">
            <a:spAutoFit/>
          </a:bodyPr>
          <a:lstStyle/>
          <a:p>
            <a:pPr algn="l"/>
            <a:r>
              <a:rPr sz="1100" b="0">
                <a:solidFill>
                  <a:srgbClr val="64748B"/>
                </a:solidFill>
                <a:latin typeface="Aptos"/>
              </a:rPr>
              <a:t>Only exact catalog URIs can be emitted</a:t>
            </a:r>
          </a:p>
        </p:txBody>
      </p:sp>
      <p:sp>
        <p:nvSpPr>
          <p:cNvPr id="22" name="Rounded Rectangle 21"/>
          <p:cNvSpPr/>
          <p:nvPr/>
        </p:nvSpPr>
        <p:spPr>
          <a:xfrm>
            <a:off x="685800" y="4937760"/>
            <a:ext cx="594360"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5074920"/>
            <a:ext cx="594360" cy="201168"/>
          </a:xfrm>
          <a:prstGeom prst="rect">
            <a:avLst/>
          </a:prstGeom>
          <a:noFill/>
        </p:spPr>
        <p:txBody>
          <a:bodyPr wrap="square" anchor="t">
            <a:spAutoFit/>
          </a:bodyPr>
          <a:lstStyle/>
          <a:p>
            <a:pPr algn="ctr"/>
            <a:r>
              <a:rPr sz="1000" b="1">
                <a:solidFill>
                  <a:srgbClr val="FFFFFF"/>
                </a:solidFill>
                <a:latin typeface="Aptos"/>
              </a:rPr>
              <a:t>05</a:t>
            </a:r>
          </a:p>
        </p:txBody>
      </p:sp>
      <p:sp>
        <p:nvSpPr>
          <p:cNvPr id="24" name="TextBox 23"/>
          <p:cNvSpPr txBox="1"/>
          <p:nvPr/>
        </p:nvSpPr>
        <p:spPr>
          <a:xfrm>
            <a:off x="1508760" y="4937760"/>
            <a:ext cx="4023360" cy="256032"/>
          </a:xfrm>
          <a:prstGeom prst="rect">
            <a:avLst/>
          </a:prstGeom>
          <a:noFill/>
        </p:spPr>
        <p:txBody>
          <a:bodyPr wrap="square" anchor="t">
            <a:spAutoFit/>
          </a:bodyPr>
          <a:lstStyle/>
          <a:p>
            <a:pPr algn="l"/>
            <a:r>
              <a:rPr sz="1400" b="1">
                <a:solidFill>
                  <a:srgbClr val="0F172A"/>
                </a:solidFill>
                <a:latin typeface="Aptos"/>
              </a:rPr>
              <a:t>No precise match?</a:t>
            </a:r>
          </a:p>
        </p:txBody>
      </p:sp>
      <p:sp>
        <p:nvSpPr>
          <p:cNvPr id="25" name="TextBox 24"/>
          <p:cNvSpPr txBox="1"/>
          <p:nvPr/>
        </p:nvSpPr>
        <p:spPr>
          <a:xfrm>
            <a:off x="1508760" y="5248656"/>
            <a:ext cx="7863840" cy="292608"/>
          </a:xfrm>
          <a:prstGeom prst="rect">
            <a:avLst/>
          </a:prstGeom>
          <a:noFill/>
        </p:spPr>
        <p:txBody>
          <a:bodyPr wrap="square" anchor="t">
            <a:spAutoFit/>
          </a:bodyPr>
          <a:lstStyle/>
          <a:p>
            <a:pPr algn="l"/>
            <a:r>
              <a:rPr sz="1100" b="0">
                <a:solidFill>
                  <a:srgbClr val="64748B"/>
                </a:solidFill>
                <a:latin typeface="Aptos"/>
              </a:rPr>
              <a:t>The action stays manual with null deeplinks</a:t>
            </a:r>
          </a:p>
        </p:txBody>
      </p:sp>
      <p:sp>
        <p:nvSpPr>
          <p:cNvPr id="26" name="Rounded Rectangle 25"/>
          <p:cNvSpPr/>
          <p:nvPr/>
        </p:nvSpPr>
        <p:spPr>
          <a:xfrm>
            <a:off x="9098280" y="1554480"/>
            <a:ext cx="2423160" cy="4251960"/>
          </a:xfrm>
          <a:prstGeom prst="round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326880" y="1847088"/>
            <a:ext cx="1965960" cy="274320"/>
          </a:xfrm>
          <a:prstGeom prst="rect">
            <a:avLst/>
          </a:prstGeom>
          <a:noFill/>
        </p:spPr>
        <p:txBody>
          <a:bodyPr wrap="square" anchor="t">
            <a:spAutoFit/>
          </a:bodyPr>
          <a:lstStyle/>
          <a:p>
            <a:pPr algn="ctr"/>
            <a:r>
              <a:rPr sz="1000" b="1">
                <a:solidFill>
                  <a:srgbClr val="06B6D4"/>
                </a:solidFill>
                <a:latin typeface="Aptos"/>
              </a:rPr>
              <a:t>VERIFIED DEMO CASES</a:t>
            </a:r>
          </a:p>
        </p:txBody>
      </p:sp>
      <p:sp>
        <p:nvSpPr>
          <p:cNvPr id="28" name="TextBox 27"/>
          <p:cNvSpPr txBox="1"/>
          <p:nvPr/>
        </p:nvSpPr>
        <p:spPr>
          <a:xfrm>
            <a:off x="9326880" y="2359152"/>
            <a:ext cx="1965960" cy="256032"/>
          </a:xfrm>
          <a:prstGeom prst="rect">
            <a:avLst/>
          </a:prstGeom>
          <a:noFill/>
        </p:spPr>
        <p:txBody>
          <a:bodyPr wrap="square" anchor="t">
            <a:spAutoFit/>
          </a:bodyPr>
          <a:lstStyle/>
          <a:p>
            <a:pPr algn="ctr"/>
            <a:r>
              <a:rPr sz="1400" b="1">
                <a:solidFill>
                  <a:srgbClr val="FFFFFF"/>
                </a:solidFill>
                <a:latin typeface="Aptos"/>
              </a:rPr>
              <a:t>Blank display</a:t>
            </a:r>
          </a:p>
        </p:txBody>
      </p:sp>
      <p:sp>
        <p:nvSpPr>
          <p:cNvPr id="29" name="TextBox 28"/>
          <p:cNvSpPr txBox="1"/>
          <p:nvPr/>
        </p:nvSpPr>
        <p:spPr>
          <a:xfrm>
            <a:off x="9326880" y="2788920"/>
            <a:ext cx="1965960" cy="365760"/>
          </a:xfrm>
          <a:prstGeom prst="rect">
            <a:avLst/>
          </a:prstGeom>
          <a:noFill/>
        </p:spPr>
        <p:txBody>
          <a:bodyPr wrap="square" anchor="t">
            <a:spAutoFit/>
          </a:bodyPr>
          <a:lstStyle/>
          <a:p>
            <a:pPr algn="ctr"/>
            <a:r>
              <a:rPr sz="1100" b="0">
                <a:solidFill>
                  <a:srgbClr val="E2E8F0"/>
                </a:solidFill>
                <a:latin typeface="Aptos"/>
              </a:rPr>
              <a:t>Cross-device equivalents</a:t>
            </a:r>
          </a:p>
        </p:txBody>
      </p:sp>
      <p:sp>
        <p:nvSpPr>
          <p:cNvPr id="30" name="TextBox 29"/>
          <p:cNvSpPr txBox="1"/>
          <p:nvPr/>
        </p:nvSpPr>
        <p:spPr>
          <a:xfrm>
            <a:off x="9326880" y="3547872"/>
            <a:ext cx="1965960" cy="256032"/>
          </a:xfrm>
          <a:prstGeom prst="rect">
            <a:avLst/>
          </a:prstGeom>
          <a:noFill/>
        </p:spPr>
        <p:txBody>
          <a:bodyPr wrap="square" anchor="t">
            <a:spAutoFit/>
          </a:bodyPr>
          <a:lstStyle/>
          <a:p>
            <a:pPr algn="ctr"/>
            <a:r>
              <a:rPr sz="1400" b="1">
                <a:solidFill>
                  <a:srgbClr val="FFFFFF"/>
                </a:solidFill>
                <a:latin typeface="Aptos"/>
              </a:rPr>
              <a:t>Wi‑Fi complaint</a:t>
            </a:r>
          </a:p>
        </p:txBody>
      </p:sp>
      <p:sp>
        <p:nvSpPr>
          <p:cNvPr id="31" name="TextBox 30"/>
          <p:cNvSpPr txBox="1"/>
          <p:nvPr/>
        </p:nvSpPr>
        <p:spPr>
          <a:xfrm>
            <a:off x="9326880" y="3977639"/>
            <a:ext cx="1965960" cy="365760"/>
          </a:xfrm>
          <a:prstGeom prst="rect">
            <a:avLst/>
          </a:prstGeom>
          <a:noFill/>
        </p:spPr>
        <p:txBody>
          <a:bodyPr wrap="square" anchor="t">
            <a:spAutoFit/>
          </a:bodyPr>
          <a:lstStyle/>
          <a:p>
            <a:pPr algn="ctr"/>
            <a:r>
              <a:rPr sz="1100" b="0">
                <a:solidFill>
                  <a:srgbClr val="E2E8F0"/>
                </a:solidFill>
                <a:latin typeface="Aptos"/>
              </a:rPr>
              <a:t>Standard pipeline retained</a:t>
            </a:r>
          </a:p>
        </p:txBody>
      </p:sp>
      <p:sp>
        <p:nvSpPr>
          <p:cNvPr id="32" name="TextBox 31"/>
          <p:cNvSpPr txBox="1"/>
          <p:nvPr/>
        </p:nvSpPr>
        <p:spPr>
          <a:xfrm>
            <a:off x="9326880" y="4645152"/>
            <a:ext cx="1965960" cy="256032"/>
          </a:xfrm>
          <a:prstGeom prst="rect">
            <a:avLst/>
          </a:prstGeom>
          <a:noFill/>
        </p:spPr>
        <p:txBody>
          <a:bodyPr wrap="square" anchor="t">
            <a:spAutoFit/>
          </a:bodyPr>
          <a:lstStyle/>
          <a:p>
            <a:pPr algn="ctr"/>
            <a:r>
              <a:rPr sz="1400" b="1">
                <a:solidFill>
                  <a:srgbClr val="FFFFFF"/>
                </a:solidFill>
                <a:latin typeface="Aptos"/>
              </a:rPr>
              <a:t>Docker deployment</a:t>
            </a:r>
          </a:p>
        </p:txBody>
      </p:sp>
      <p:sp>
        <p:nvSpPr>
          <p:cNvPr id="33" name="TextBox 32"/>
          <p:cNvSpPr txBox="1"/>
          <p:nvPr/>
        </p:nvSpPr>
        <p:spPr>
          <a:xfrm>
            <a:off x="9326880" y="5074920"/>
            <a:ext cx="1965960" cy="365760"/>
          </a:xfrm>
          <a:prstGeom prst="rect">
            <a:avLst/>
          </a:prstGeom>
          <a:noFill/>
        </p:spPr>
        <p:txBody>
          <a:bodyPr wrap="square" anchor="t">
            <a:spAutoFit/>
          </a:bodyPr>
          <a:lstStyle/>
          <a:p>
            <a:pPr algn="ctr"/>
            <a:r>
              <a:rPr sz="1100" b="0">
                <a:solidFill>
                  <a:srgbClr val="E2E8F0"/>
                </a:solidFill>
                <a:latin typeface="Aptos"/>
              </a:rPr>
              <a:t>/api/health verified</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1323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8961120" cy="384048"/>
          </a:xfrm>
          <a:prstGeom prst="rect">
            <a:avLst/>
          </a:prstGeom>
          <a:noFill/>
        </p:spPr>
        <p:txBody>
          <a:bodyPr wrap="square" anchor="t">
            <a:spAutoFit/>
          </a:bodyPr>
          <a:lstStyle/>
          <a:p>
            <a:pPr algn="l"/>
            <a:r>
              <a:rPr sz="2400" b="1">
                <a:solidFill>
                  <a:srgbClr val="FFFFFF"/>
                </a:solidFill>
                <a:latin typeface="Aptos"/>
              </a:rPr>
              <a:t>Tools &amp; Tech Stack</a:t>
            </a:r>
          </a:p>
        </p:txBody>
      </p:sp>
      <p:sp>
        <p:nvSpPr>
          <p:cNvPr id="4" name="TextBox 3"/>
          <p:cNvSpPr txBox="1"/>
          <p:nvPr/>
        </p:nvSpPr>
        <p:spPr>
          <a:xfrm>
            <a:off x="10698480" y="192024"/>
            <a:ext cx="731520" cy="228600"/>
          </a:xfrm>
          <a:prstGeom prst="rect">
            <a:avLst/>
          </a:prstGeom>
          <a:noFill/>
        </p:spPr>
        <p:txBody>
          <a:bodyPr wrap="square" anchor="t">
            <a:spAutoFit/>
          </a:bodyPr>
          <a:lstStyle/>
          <a:p>
            <a:pPr algn="r"/>
            <a:r>
              <a:rPr sz="900" b="1">
                <a:solidFill>
                  <a:srgbClr val="94A3B8"/>
                </a:solidFill>
                <a:latin typeface="Aptos"/>
              </a:rPr>
              <a:t>05</a:t>
            </a:r>
          </a:p>
        </p:txBody>
      </p:sp>
      <p:sp>
        <p:nvSpPr>
          <p:cNvPr id="5" name="Rounded Rectangle 4"/>
          <p:cNvSpPr/>
          <p:nvPr/>
        </p:nvSpPr>
        <p:spPr>
          <a:xfrm>
            <a:off x="658368" y="1234440"/>
            <a:ext cx="5074920" cy="1097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399032"/>
            <a:ext cx="1325880" cy="228600"/>
          </a:xfrm>
          <a:prstGeom prst="rect">
            <a:avLst/>
          </a:prstGeom>
          <a:noFill/>
        </p:spPr>
        <p:txBody>
          <a:bodyPr wrap="square" anchor="t">
            <a:spAutoFit/>
          </a:bodyPr>
          <a:lstStyle/>
          <a:p>
            <a:pPr algn="l"/>
            <a:r>
              <a:rPr sz="1000" b="1">
                <a:solidFill>
                  <a:srgbClr val="2563EB"/>
                </a:solidFill>
                <a:latin typeface="Aptos"/>
              </a:rPr>
              <a:t>Frontend</a:t>
            </a:r>
          </a:p>
        </p:txBody>
      </p:sp>
      <p:sp>
        <p:nvSpPr>
          <p:cNvPr id="7" name="TextBox 6"/>
          <p:cNvSpPr txBox="1"/>
          <p:nvPr/>
        </p:nvSpPr>
        <p:spPr>
          <a:xfrm>
            <a:off x="886968" y="1682496"/>
            <a:ext cx="4434840" cy="256032"/>
          </a:xfrm>
          <a:prstGeom prst="rect">
            <a:avLst/>
          </a:prstGeom>
          <a:noFill/>
        </p:spPr>
        <p:txBody>
          <a:bodyPr wrap="square" anchor="t">
            <a:spAutoFit/>
          </a:bodyPr>
          <a:lstStyle/>
          <a:p>
            <a:pPr algn="l"/>
            <a:r>
              <a:rPr sz="1500" b="1">
                <a:solidFill>
                  <a:srgbClr val="0F172A"/>
                </a:solidFill>
                <a:latin typeface="Aptos"/>
              </a:rPr>
              <a:t>React + TanStack Start + Vite</a:t>
            </a:r>
          </a:p>
        </p:txBody>
      </p:sp>
      <p:sp>
        <p:nvSpPr>
          <p:cNvPr id="8" name="TextBox 7"/>
          <p:cNvSpPr txBox="1"/>
          <p:nvPr/>
        </p:nvSpPr>
        <p:spPr>
          <a:xfrm>
            <a:off x="886968" y="1984248"/>
            <a:ext cx="4434840" cy="219456"/>
          </a:xfrm>
          <a:prstGeom prst="rect">
            <a:avLst/>
          </a:prstGeom>
          <a:noFill/>
        </p:spPr>
        <p:txBody>
          <a:bodyPr wrap="square" anchor="t">
            <a:spAutoFit/>
          </a:bodyPr>
          <a:lstStyle/>
          <a:p>
            <a:pPr algn="l"/>
            <a:r>
              <a:rPr sz="1000" b="0">
                <a:solidFill>
                  <a:srgbClr val="64748B"/>
                </a:solidFill>
                <a:latin typeface="Aptos"/>
              </a:rPr>
              <a:t>Single troubleshooting experience</a:t>
            </a:r>
          </a:p>
        </p:txBody>
      </p:sp>
      <p:sp>
        <p:nvSpPr>
          <p:cNvPr id="9" name="Rounded Rectangle 8"/>
          <p:cNvSpPr/>
          <p:nvPr/>
        </p:nvSpPr>
        <p:spPr>
          <a:xfrm>
            <a:off x="6236207" y="1234440"/>
            <a:ext cx="5074920" cy="1097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64807" y="1399032"/>
            <a:ext cx="1325880" cy="228600"/>
          </a:xfrm>
          <a:prstGeom prst="rect">
            <a:avLst/>
          </a:prstGeom>
          <a:noFill/>
        </p:spPr>
        <p:txBody>
          <a:bodyPr wrap="square" anchor="t">
            <a:spAutoFit/>
          </a:bodyPr>
          <a:lstStyle/>
          <a:p>
            <a:pPr algn="l"/>
            <a:r>
              <a:rPr sz="1000" b="1">
                <a:solidFill>
                  <a:srgbClr val="2563EB"/>
                </a:solidFill>
                <a:latin typeface="Aptos"/>
              </a:rPr>
              <a:t>Backend</a:t>
            </a:r>
          </a:p>
        </p:txBody>
      </p:sp>
      <p:sp>
        <p:nvSpPr>
          <p:cNvPr id="11" name="TextBox 10"/>
          <p:cNvSpPr txBox="1"/>
          <p:nvPr/>
        </p:nvSpPr>
        <p:spPr>
          <a:xfrm>
            <a:off x="6464807" y="1682496"/>
            <a:ext cx="4434840" cy="256032"/>
          </a:xfrm>
          <a:prstGeom prst="rect">
            <a:avLst/>
          </a:prstGeom>
          <a:noFill/>
        </p:spPr>
        <p:txBody>
          <a:bodyPr wrap="square" anchor="t">
            <a:spAutoFit/>
          </a:bodyPr>
          <a:lstStyle/>
          <a:p>
            <a:pPr algn="l"/>
            <a:r>
              <a:rPr sz="1500" b="1">
                <a:solidFill>
                  <a:srgbClr val="0F172A"/>
                </a:solidFill>
                <a:latin typeface="Aptos"/>
              </a:rPr>
              <a:t>TypeScript + Nitro</a:t>
            </a:r>
          </a:p>
        </p:txBody>
      </p:sp>
      <p:sp>
        <p:nvSpPr>
          <p:cNvPr id="12" name="TextBox 11"/>
          <p:cNvSpPr txBox="1"/>
          <p:nvPr/>
        </p:nvSpPr>
        <p:spPr>
          <a:xfrm>
            <a:off x="6464807" y="1984248"/>
            <a:ext cx="4434840" cy="219456"/>
          </a:xfrm>
          <a:prstGeom prst="rect">
            <a:avLst/>
          </a:prstGeom>
          <a:noFill/>
        </p:spPr>
        <p:txBody>
          <a:bodyPr wrap="square" anchor="t">
            <a:spAutoFit/>
          </a:bodyPr>
          <a:lstStyle/>
          <a:p>
            <a:pPr algn="l"/>
            <a:r>
              <a:rPr sz="1000" b="0">
                <a:solidFill>
                  <a:srgbClr val="64748B"/>
                </a:solidFill>
                <a:latin typeface="Aptos"/>
              </a:rPr>
              <a:t>API routes and server services</a:t>
            </a:r>
          </a:p>
        </p:txBody>
      </p:sp>
      <p:sp>
        <p:nvSpPr>
          <p:cNvPr id="13" name="Rounded Rectangle 12"/>
          <p:cNvSpPr/>
          <p:nvPr/>
        </p:nvSpPr>
        <p:spPr>
          <a:xfrm>
            <a:off x="658368" y="2651760"/>
            <a:ext cx="5074920" cy="1097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6968" y="2816352"/>
            <a:ext cx="1325880" cy="228600"/>
          </a:xfrm>
          <a:prstGeom prst="rect">
            <a:avLst/>
          </a:prstGeom>
          <a:noFill/>
        </p:spPr>
        <p:txBody>
          <a:bodyPr wrap="square" anchor="t">
            <a:spAutoFit/>
          </a:bodyPr>
          <a:lstStyle/>
          <a:p>
            <a:pPr algn="l"/>
            <a:r>
              <a:rPr sz="1000" b="1">
                <a:solidFill>
                  <a:srgbClr val="2563EB"/>
                </a:solidFill>
                <a:latin typeface="Aptos"/>
              </a:rPr>
              <a:t>Theme 2</a:t>
            </a:r>
          </a:p>
        </p:txBody>
      </p:sp>
      <p:sp>
        <p:nvSpPr>
          <p:cNvPr id="15" name="TextBox 14"/>
          <p:cNvSpPr txBox="1"/>
          <p:nvPr/>
        </p:nvSpPr>
        <p:spPr>
          <a:xfrm>
            <a:off x="886968" y="3099816"/>
            <a:ext cx="4434840" cy="256032"/>
          </a:xfrm>
          <a:prstGeom prst="rect">
            <a:avLst/>
          </a:prstGeom>
          <a:noFill/>
        </p:spPr>
        <p:txBody>
          <a:bodyPr wrap="square" anchor="t">
            <a:spAutoFit/>
          </a:bodyPr>
          <a:lstStyle/>
          <a:p>
            <a:pPr algn="l"/>
            <a:r>
              <a:rPr sz="1500" b="1">
                <a:solidFill>
                  <a:srgbClr val="0F172A"/>
                </a:solidFill>
                <a:latin typeface="Aptos"/>
              </a:rPr>
              <a:t>SIIS JSON + deterministic matcher</a:t>
            </a:r>
          </a:p>
        </p:txBody>
      </p:sp>
      <p:sp>
        <p:nvSpPr>
          <p:cNvPr id="16" name="TextBox 15"/>
          <p:cNvSpPr txBox="1"/>
          <p:nvPr/>
        </p:nvSpPr>
        <p:spPr>
          <a:xfrm>
            <a:off x="886968" y="3401568"/>
            <a:ext cx="4434840" cy="219456"/>
          </a:xfrm>
          <a:prstGeom prst="rect">
            <a:avLst/>
          </a:prstGeom>
          <a:noFill/>
        </p:spPr>
        <p:txBody>
          <a:bodyPr wrap="square" anchor="t">
            <a:spAutoFit/>
          </a:bodyPr>
          <a:lstStyle/>
          <a:p>
            <a:pPr algn="l"/>
            <a:r>
              <a:rPr sz="1000" b="0">
                <a:solidFill>
                  <a:srgbClr val="64748B"/>
                </a:solidFill>
                <a:latin typeface="Aptos"/>
              </a:rPr>
              <a:t>Grounded response generation</a:t>
            </a:r>
          </a:p>
        </p:txBody>
      </p:sp>
      <p:sp>
        <p:nvSpPr>
          <p:cNvPr id="17" name="Rounded Rectangle 16"/>
          <p:cNvSpPr/>
          <p:nvPr/>
        </p:nvSpPr>
        <p:spPr>
          <a:xfrm>
            <a:off x="6236207" y="2651760"/>
            <a:ext cx="5074920" cy="1097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64807" y="2816352"/>
            <a:ext cx="1325880" cy="228600"/>
          </a:xfrm>
          <a:prstGeom prst="rect">
            <a:avLst/>
          </a:prstGeom>
          <a:noFill/>
        </p:spPr>
        <p:txBody>
          <a:bodyPr wrap="square" anchor="t">
            <a:spAutoFit/>
          </a:bodyPr>
          <a:lstStyle/>
          <a:p>
            <a:pPr algn="l"/>
            <a:r>
              <a:rPr sz="1000" b="1">
                <a:solidFill>
                  <a:srgbClr val="2563EB"/>
                </a:solidFill>
                <a:latin typeface="Aptos"/>
              </a:rPr>
              <a:t>Registry</a:t>
            </a:r>
          </a:p>
        </p:txBody>
      </p:sp>
      <p:sp>
        <p:nvSpPr>
          <p:cNvPr id="19" name="TextBox 18"/>
          <p:cNvSpPr txBox="1"/>
          <p:nvPr/>
        </p:nvSpPr>
        <p:spPr>
          <a:xfrm>
            <a:off x="6464807" y="3099816"/>
            <a:ext cx="4434840" cy="256032"/>
          </a:xfrm>
          <a:prstGeom prst="rect">
            <a:avLst/>
          </a:prstGeom>
          <a:noFill/>
        </p:spPr>
        <p:txBody>
          <a:bodyPr wrap="square" anchor="t">
            <a:spAutoFit/>
          </a:bodyPr>
          <a:lstStyle/>
          <a:p>
            <a:pPr algn="l"/>
            <a:r>
              <a:rPr sz="1500" b="1">
                <a:solidFill>
                  <a:srgbClr val="0F172A"/>
                </a:solidFill>
                <a:latin typeface="Aptos"/>
              </a:rPr>
              <a:t>Official deeplinks.json</a:t>
            </a:r>
          </a:p>
        </p:txBody>
      </p:sp>
      <p:sp>
        <p:nvSpPr>
          <p:cNvPr id="20" name="TextBox 19"/>
          <p:cNvSpPr txBox="1"/>
          <p:nvPr/>
        </p:nvSpPr>
        <p:spPr>
          <a:xfrm>
            <a:off x="6464807" y="3401568"/>
            <a:ext cx="4434840" cy="219456"/>
          </a:xfrm>
          <a:prstGeom prst="rect">
            <a:avLst/>
          </a:prstGeom>
          <a:noFill/>
        </p:spPr>
        <p:txBody>
          <a:bodyPr wrap="square" anchor="t">
            <a:spAutoFit/>
          </a:bodyPr>
          <a:lstStyle/>
          <a:p>
            <a:pPr algn="l"/>
            <a:r>
              <a:rPr sz="1000" b="0">
                <a:solidFill>
                  <a:srgbClr val="64748B"/>
                </a:solidFill>
                <a:latin typeface="Aptos"/>
              </a:rPr>
              <a:t>578 controlled entries</a:t>
            </a:r>
          </a:p>
        </p:txBody>
      </p:sp>
      <p:sp>
        <p:nvSpPr>
          <p:cNvPr id="21" name="Rounded Rectangle 20"/>
          <p:cNvSpPr/>
          <p:nvPr/>
        </p:nvSpPr>
        <p:spPr>
          <a:xfrm>
            <a:off x="658368" y="4069080"/>
            <a:ext cx="5074920" cy="1097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6968" y="4233672"/>
            <a:ext cx="1325880" cy="228600"/>
          </a:xfrm>
          <a:prstGeom prst="rect">
            <a:avLst/>
          </a:prstGeom>
          <a:noFill/>
        </p:spPr>
        <p:txBody>
          <a:bodyPr wrap="square" anchor="t">
            <a:spAutoFit/>
          </a:bodyPr>
          <a:lstStyle/>
          <a:p>
            <a:pPr algn="l"/>
            <a:r>
              <a:rPr sz="1000" b="1">
                <a:solidFill>
                  <a:srgbClr val="2563EB"/>
                </a:solidFill>
                <a:latin typeface="Aptos"/>
              </a:rPr>
              <a:t>Validation</a:t>
            </a:r>
          </a:p>
        </p:txBody>
      </p:sp>
      <p:sp>
        <p:nvSpPr>
          <p:cNvPr id="23" name="TextBox 22"/>
          <p:cNvSpPr txBox="1"/>
          <p:nvPr/>
        </p:nvSpPr>
        <p:spPr>
          <a:xfrm>
            <a:off x="886968" y="4517136"/>
            <a:ext cx="4434840" cy="256032"/>
          </a:xfrm>
          <a:prstGeom prst="rect">
            <a:avLst/>
          </a:prstGeom>
          <a:noFill/>
        </p:spPr>
        <p:txBody>
          <a:bodyPr wrap="square" anchor="t">
            <a:spAutoFit/>
          </a:bodyPr>
          <a:lstStyle/>
          <a:p>
            <a:pPr algn="l"/>
            <a:r>
              <a:rPr sz="1500" b="1">
                <a:solidFill>
                  <a:srgbClr val="0F172A"/>
                </a:solidFill>
                <a:latin typeface="Aptos"/>
              </a:rPr>
              <a:t>Zod + schema contract</a:t>
            </a:r>
          </a:p>
        </p:txBody>
      </p:sp>
      <p:sp>
        <p:nvSpPr>
          <p:cNvPr id="24" name="TextBox 23"/>
          <p:cNvSpPr txBox="1"/>
          <p:nvPr/>
        </p:nvSpPr>
        <p:spPr>
          <a:xfrm>
            <a:off x="886968" y="4818888"/>
            <a:ext cx="4434840" cy="219456"/>
          </a:xfrm>
          <a:prstGeom prst="rect">
            <a:avLst/>
          </a:prstGeom>
          <a:noFill/>
        </p:spPr>
        <p:txBody>
          <a:bodyPr wrap="square" anchor="t">
            <a:spAutoFit/>
          </a:bodyPr>
          <a:lstStyle/>
          <a:p>
            <a:pPr algn="l"/>
            <a:r>
              <a:rPr sz="1000" b="0">
                <a:solidFill>
                  <a:srgbClr val="64748B"/>
                </a:solidFill>
                <a:latin typeface="Aptos"/>
              </a:rPr>
              <a:t>Response and URI integrity</a:t>
            </a:r>
          </a:p>
        </p:txBody>
      </p:sp>
      <p:sp>
        <p:nvSpPr>
          <p:cNvPr id="25" name="Rounded Rectangle 24"/>
          <p:cNvSpPr/>
          <p:nvPr/>
        </p:nvSpPr>
        <p:spPr>
          <a:xfrm>
            <a:off x="6236207" y="4069080"/>
            <a:ext cx="5074920" cy="1097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64807" y="4233672"/>
            <a:ext cx="1325880" cy="228600"/>
          </a:xfrm>
          <a:prstGeom prst="rect">
            <a:avLst/>
          </a:prstGeom>
          <a:noFill/>
        </p:spPr>
        <p:txBody>
          <a:bodyPr wrap="square" anchor="t">
            <a:spAutoFit/>
          </a:bodyPr>
          <a:lstStyle/>
          <a:p>
            <a:pPr algn="l"/>
            <a:r>
              <a:rPr sz="1000" b="1">
                <a:solidFill>
                  <a:srgbClr val="2563EB"/>
                </a:solidFill>
                <a:latin typeface="Aptos"/>
              </a:rPr>
              <a:t>Deployment</a:t>
            </a:r>
          </a:p>
        </p:txBody>
      </p:sp>
      <p:sp>
        <p:nvSpPr>
          <p:cNvPr id="27" name="TextBox 26"/>
          <p:cNvSpPr txBox="1"/>
          <p:nvPr/>
        </p:nvSpPr>
        <p:spPr>
          <a:xfrm>
            <a:off x="6464807" y="4517136"/>
            <a:ext cx="4434840" cy="256032"/>
          </a:xfrm>
          <a:prstGeom prst="rect">
            <a:avLst/>
          </a:prstGeom>
          <a:noFill/>
        </p:spPr>
        <p:txBody>
          <a:bodyPr wrap="square" anchor="t">
            <a:spAutoFit/>
          </a:bodyPr>
          <a:lstStyle/>
          <a:p>
            <a:pPr algn="l"/>
            <a:r>
              <a:rPr sz="1500" b="1">
                <a:solidFill>
                  <a:srgbClr val="0F172A"/>
                </a:solidFill>
                <a:latin typeface="Aptos"/>
              </a:rPr>
              <a:t>Docker + Compose</a:t>
            </a:r>
          </a:p>
        </p:txBody>
      </p:sp>
      <p:sp>
        <p:nvSpPr>
          <p:cNvPr id="28" name="TextBox 27"/>
          <p:cNvSpPr txBox="1"/>
          <p:nvPr/>
        </p:nvSpPr>
        <p:spPr>
          <a:xfrm>
            <a:off x="6464807" y="4818888"/>
            <a:ext cx="4434840" cy="219456"/>
          </a:xfrm>
          <a:prstGeom prst="rect">
            <a:avLst/>
          </a:prstGeom>
          <a:noFill/>
        </p:spPr>
        <p:txBody>
          <a:bodyPr wrap="square" anchor="t">
            <a:spAutoFit/>
          </a:bodyPr>
          <a:lstStyle/>
          <a:p>
            <a:pPr algn="l"/>
            <a:r>
              <a:rPr sz="1000" b="0">
                <a:solidFill>
                  <a:srgbClr val="64748B"/>
                </a:solidFill>
                <a:latin typeface="Aptos"/>
              </a:rPr>
              <a:t>Reproducible CPU-friendly deployment</a:t>
            </a:r>
          </a:p>
        </p:txBody>
      </p:sp>
      <p:sp>
        <p:nvSpPr>
          <p:cNvPr id="29" name="TextBox 28"/>
          <p:cNvSpPr txBox="1"/>
          <p:nvPr/>
        </p:nvSpPr>
        <p:spPr>
          <a:xfrm>
            <a:off x="685800" y="5559552"/>
            <a:ext cx="2286000" cy="228600"/>
          </a:xfrm>
          <a:prstGeom prst="rect">
            <a:avLst/>
          </a:prstGeom>
          <a:noFill/>
        </p:spPr>
        <p:txBody>
          <a:bodyPr wrap="square" anchor="t">
            <a:spAutoFit/>
          </a:bodyPr>
          <a:lstStyle/>
          <a:p>
            <a:pPr algn="l"/>
            <a:r>
              <a:rPr sz="1000" b="1">
                <a:solidFill>
                  <a:srgbClr val="64748B"/>
                </a:solidFill>
                <a:latin typeface="Aptos"/>
              </a:rPr>
              <a:t>Cost / infrastructure constraint</a:t>
            </a:r>
          </a:p>
        </p:txBody>
      </p:sp>
      <p:sp>
        <p:nvSpPr>
          <p:cNvPr id="30" name="TextBox 29"/>
          <p:cNvSpPr txBox="1"/>
          <p:nvPr/>
        </p:nvSpPr>
        <p:spPr>
          <a:xfrm>
            <a:off x="2788920" y="5522976"/>
            <a:ext cx="8412480" cy="320040"/>
          </a:xfrm>
          <a:prstGeom prst="rect">
            <a:avLst/>
          </a:prstGeom>
          <a:noFill/>
        </p:spPr>
        <p:txBody>
          <a:bodyPr wrap="square" anchor="t">
            <a:spAutoFit/>
          </a:bodyPr>
          <a:lstStyle/>
          <a:p>
            <a:pPr algn="l"/>
            <a:r>
              <a:rPr sz="1300" b="1">
                <a:solidFill>
                  <a:srgbClr val="0F172A"/>
                </a:solidFill>
                <a:latin typeface="Aptos"/>
              </a:rPr>
              <a:t>No paid APIs, vector database, or hosted infrastructure required for the Theme 2 path.</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1323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8961120" cy="384048"/>
          </a:xfrm>
          <a:prstGeom prst="rect">
            <a:avLst/>
          </a:prstGeom>
          <a:noFill/>
        </p:spPr>
        <p:txBody>
          <a:bodyPr wrap="square" anchor="t">
            <a:spAutoFit/>
          </a:bodyPr>
          <a:lstStyle/>
          <a:p>
            <a:pPr algn="l"/>
            <a:r>
              <a:rPr sz="2400" b="1">
                <a:solidFill>
                  <a:srgbClr val="FFFFFF"/>
                </a:solidFill>
                <a:latin typeface="Aptos"/>
              </a:rPr>
              <a:t>Impact &amp; Use Case</a:t>
            </a:r>
          </a:p>
        </p:txBody>
      </p:sp>
      <p:sp>
        <p:nvSpPr>
          <p:cNvPr id="4" name="TextBox 3"/>
          <p:cNvSpPr txBox="1"/>
          <p:nvPr/>
        </p:nvSpPr>
        <p:spPr>
          <a:xfrm>
            <a:off x="10698480" y="192024"/>
            <a:ext cx="731520" cy="228600"/>
          </a:xfrm>
          <a:prstGeom prst="rect">
            <a:avLst/>
          </a:prstGeom>
          <a:noFill/>
        </p:spPr>
        <p:txBody>
          <a:bodyPr wrap="square" anchor="t">
            <a:spAutoFit/>
          </a:bodyPr>
          <a:lstStyle/>
          <a:p>
            <a:pPr algn="r"/>
            <a:r>
              <a:rPr sz="900" b="1">
                <a:solidFill>
                  <a:srgbClr val="94A3B8"/>
                </a:solidFill>
                <a:latin typeface="Aptos"/>
              </a:rPr>
              <a:t>06</a:t>
            </a:r>
          </a:p>
        </p:txBody>
      </p:sp>
      <p:sp>
        <p:nvSpPr>
          <p:cNvPr id="5" name="TextBox 4"/>
          <p:cNvSpPr txBox="1"/>
          <p:nvPr/>
        </p:nvSpPr>
        <p:spPr>
          <a:xfrm>
            <a:off x="640080" y="932688"/>
            <a:ext cx="7315200" cy="411480"/>
          </a:xfrm>
          <a:prstGeom prst="rect">
            <a:avLst/>
          </a:prstGeom>
          <a:noFill/>
        </p:spPr>
        <p:txBody>
          <a:bodyPr wrap="square" anchor="t">
            <a:spAutoFit/>
          </a:bodyPr>
          <a:lstStyle/>
          <a:p>
            <a:pPr algn="l"/>
            <a:r>
              <a:rPr sz="2400" b="1">
                <a:solidFill>
                  <a:srgbClr val="0F172A"/>
                </a:solidFill>
                <a:latin typeface="Aptos"/>
              </a:rPr>
              <a:t>Designed for faster, safer device self-service</a:t>
            </a:r>
          </a:p>
        </p:txBody>
      </p:sp>
      <p:sp>
        <p:nvSpPr>
          <p:cNvPr id="6" name="Rounded Rectangle 5"/>
          <p:cNvSpPr/>
          <p:nvPr/>
        </p:nvSpPr>
        <p:spPr>
          <a:xfrm>
            <a:off x="658368" y="1600200"/>
            <a:ext cx="20116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600200"/>
            <a:ext cx="73152" cy="105156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764792"/>
            <a:ext cx="1600200" cy="347472"/>
          </a:xfrm>
          <a:prstGeom prst="rect">
            <a:avLst/>
          </a:prstGeom>
          <a:noFill/>
        </p:spPr>
        <p:txBody>
          <a:bodyPr wrap="square" anchor="t">
            <a:spAutoFit/>
          </a:bodyPr>
          <a:lstStyle/>
          <a:p>
            <a:pPr algn="l"/>
            <a:r>
              <a:rPr sz="2300" b="1">
                <a:solidFill>
                  <a:srgbClr val="0F172A"/>
                </a:solidFill>
                <a:latin typeface="Aptos"/>
              </a:rPr>
              <a:t>20</a:t>
            </a:r>
          </a:p>
        </p:txBody>
      </p:sp>
      <p:sp>
        <p:nvSpPr>
          <p:cNvPr id="9" name="TextBox 8"/>
          <p:cNvSpPr txBox="1"/>
          <p:nvPr/>
        </p:nvSpPr>
        <p:spPr>
          <a:xfrm>
            <a:off x="859536" y="2167128"/>
            <a:ext cx="1600200" cy="329184"/>
          </a:xfrm>
          <a:prstGeom prst="rect">
            <a:avLst/>
          </a:prstGeom>
          <a:noFill/>
        </p:spPr>
        <p:txBody>
          <a:bodyPr wrap="square" anchor="t">
            <a:spAutoFit/>
          </a:bodyPr>
          <a:lstStyle/>
          <a:p>
            <a:pPr algn="l"/>
            <a:r>
              <a:rPr sz="1000" b="0">
                <a:solidFill>
                  <a:srgbClr val="64748B"/>
                </a:solidFill>
                <a:latin typeface="Aptos"/>
              </a:rPr>
              <a:t>official SIIS rows</a:t>
            </a:r>
          </a:p>
        </p:txBody>
      </p:sp>
      <p:sp>
        <p:nvSpPr>
          <p:cNvPr id="10" name="Rounded Rectangle 9"/>
          <p:cNvSpPr/>
          <p:nvPr/>
        </p:nvSpPr>
        <p:spPr>
          <a:xfrm>
            <a:off x="2880360" y="1600200"/>
            <a:ext cx="20116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880360" y="1600200"/>
            <a:ext cx="73152" cy="1051560"/>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81528" y="1764792"/>
            <a:ext cx="1600200" cy="347472"/>
          </a:xfrm>
          <a:prstGeom prst="rect">
            <a:avLst/>
          </a:prstGeom>
          <a:noFill/>
        </p:spPr>
        <p:txBody>
          <a:bodyPr wrap="square" anchor="t">
            <a:spAutoFit/>
          </a:bodyPr>
          <a:lstStyle/>
          <a:p>
            <a:pPr algn="l"/>
            <a:r>
              <a:rPr sz="2300" b="1">
                <a:solidFill>
                  <a:srgbClr val="0F172A"/>
                </a:solidFill>
                <a:latin typeface="Aptos"/>
              </a:rPr>
              <a:t>578</a:t>
            </a:r>
          </a:p>
        </p:txBody>
      </p:sp>
      <p:sp>
        <p:nvSpPr>
          <p:cNvPr id="13" name="TextBox 12"/>
          <p:cNvSpPr txBox="1"/>
          <p:nvPr/>
        </p:nvSpPr>
        <p:spPr>
          <a:xfrm>
            <a:off x="3081528" y="2167128"/>
            <a:ext cx="1600200" cy="329184"/>
          </a:xfrm>
          <a:prstGeom prst="rect">
            <a:avLst/>
          </a:prstGeom>
          <a:noFill/>
        </p:spPr>
        <p:txBody>
          <a:bodyPr wrap="square" anchor="t">
            <a:spAutoFit/>
          </a:bodyPr>
          <a:lstStyle/>
          <a:p>
            <a:pPr algn="l"/>
            <a:r>
              <a:rPr sz="1000" b="0">
                <a:solidFill>
                  <a:srgbClr val="64748B"/>
                </a:solidFill>
                <a:latin typeface="Aptos"/>
              </a:rPr>
              <a:t>catalog entries</a:t>
            </a:r>
          </a:p>
        </p:txBody>
      </p:sp>
      <p:sp>
        <p:nvSpPr>
          <p:cNvPr id="14" name="Rounded Rectangle 13"/>
          <p:cNvSpPr/>
          <p:nvPr/>
        </p:nvSpPr>
        <p:spPr>
          <a:xfrm>
            <a:off x="5102352" y="1600200"/>
            <a:ext cx="20116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102352" y="1600200"/>
            <a:ext cx="73152" cy="1051560"/>
          </a:xfrm>
          <a:prstGeom prst="rect">
            <a:avLst/>
          </a:prstGeom>
          <a:solidFill>
            <a:srgbClr val="16A34A"/>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03520" y="1764792"/>
            <a:ext cx="1600200" cy="347472"/>
          </a:xfrm>
          <a:prstGeom prst="rect">
            <a:avLst/>
          </a:prstGeom>
          <a:noFill/>
        </p:spPr>
        <p:txBody>
          <a:bodyPr wrap="square" anchor="t">
            <a:spAutoFit/>
          </a:bodyPr>
          <a:lstStyle/>
          <a:p>
            <a:pPr algn="l"/>
            <a:r>
              <a:rPr sz="2300" b="1">
                <a:solidFill>
                  <a:srgbClr val="0F172A"/>
                </a:solidFill>
                <a:latin typeface="Aptos"/>
              </a:rPr>
              <a:t>44/44</a:t>
            </a:r>
          </a:p>
        </p:txBody>
      </p:sp>
      <p:sp>
        <p:nvSpPr>
          <p:cNvPr id="17" name="TextBox 16"/>
          <p:cNvSpPr txBox="1"/>
          <p:nvPr/>
        </p:nvSpPr>
        <p:spPr>
          <a:xfrm>
            <a:off x="5303520" y="2167128"/>
            <a:ext cx="1600200" cy="329184"/>
          </a:xfrm>
          <a:prstGeom prst="rect">
            <a:avLst/>
          </a:prstGeom>
          <a:noFill/>
        </p:spPr>
        <p:txBody>
          <a:bodyPr wrap="square" anchor="t">
            <a:spAutoFit/>
          </a:bodyPr>
          <a:lstStyle/>
          <a:p>
            <a:pPr algn="l"/>
            <a:r>
              <a:rPr sz="1000" b="0">
                <a:solidFill>
                  <a:srgbClr val="64748B"/>
                </a:solidFill>
                <a:latin typeface="Aptos"/>
              </a:rPr>
              <a:t>automated tests</a:t>
            </a:r>
          </a:p>
        </p:txBody>
      </p:sp>
      <p:sp>
        <p:nvSpPr>
          <p:cNvPr id="18" name="Rounded Rectangle 17"/>
          <p:cNvSpPr/>
          <p:nvPr/>
        </p:nvSpPr>
        <p:spPr>
          <a:xfrm>
            <a:off x="7324344" y="1600200"/>
            <a:ext cx="20116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24344" y="1600200"/>
            <a:ext cx="73152" cy="105156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25512" y="1764792"/>
            <a:ext cx="1600200" cy="347472"/>
          </a:xfrm>
          <a:prstGeom prst="rect">
            <a:avLst/>
          </a:prstGeom>
          <a:noFill/>
        </p:spPr>
        <p:txBody>
          <a:bodyPr wrap="square" anchor="t">
            <a:spAutoFit/>
          </a:bodyPr>
          <a:lstStyle/>
          <a:p>
            <a:pPr algn="l"/>
            <a:r>
              <a:rPr sz="2300" b="1">
                <a:solidFill>
                  <a:srgbClr val="0F172A"/>
                </a:solidFill>
                <a:latin typeface="Aptos"/>
              </a:rPr>
              <a:t>28</a:t>
            </a:r>
          </a:p>
        </p:txBody>
      </p:sp>
      <p:sp>
        <p:nvSpPr>
          <p:cNvPr id="21" name="TextBox 20"/>
          <p:cNvSpPr txBox="1"/>
          <p:nvPr/>
        </p:nvSpPr>
        <p:spPr>
          <a:xfrm>
            <a:off x="7525512" y="2167128"/>
            <a:ext cx="1600200" cy="329184"/>
          </a:xfrm>
          <a:prstGeom prst="rect">
            <a:avLst/>
          </a:prstGeom>
          <a:noFill/>
        </p:spPr>
        <p:txBody>
          <a:bodyPr wrap="square" anchor="t">
            <a:spAutoFit/>
          </a:bodyPr>
          <a:lstStyle/>
          <a:p>
            <a:pPr algn="l"/>
            <a:r>
              <a:rPr sz="1000" b="0">
                <a:solidFill>
                  <a:srgbClr val="64748B"/>
                </a:solidFill>
                <a:latin typeface="Aptos"/>
              </a:rPr>
              <a:t>verified emitted URIs</a:t>
            </a:r>
          </a:p>
        </p:txBody>
      </p:sp>
      <p:sp>
        <p:nvSpPr>
          <p:cNvPr id="22" name="Rounded Rectangle 21"/>
          <p:cNvSpPr/>
          <p:nvPr/>
        </p:nvSpPr>
        <p:spPr>
          <a:xfrm>
            <a:off x="9546336" y="1600200"/>
            <a:ext cx="20116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546336" y="1600200"/>
            <a:ext cx="73152" cy="1051560"/>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47504" y="1764792"/>
            <a:ext cx="1600200" cy="347472"/>
          </a:xfrm>
          <a:prstGeom prst="rect">
            <a:avLst/>
          </a:prstGeom>
          <a:noFill/>
        </p:spPr>
        <p:txBody>
          <a:bodyPr wrap="square" anchor="t">
            <a:spAutoFit/>
          </a:bodyPr>
          <a:lstStyle/>
          <a:p>
            <a:pPr algn="l"/>
            <a:r>
              <a:rPr sz="2300" b="1">
                <a:solidFill>
                  <a:srgbClr val="0F172A"/>
                </a:solidFill>
                <a:latin typeface="Aptos"/>
              </a:rPr>
              <a:t>7</a:t>
            </a:r>
          </a:p>
        </p:txBody>
      </p:sp>
      <p:sp>
        <p:nvSpPr>
          <p:cNvPr id="25" name="TextBox 24"/>
          <p:cNvSpPr txBox="1"/>
          <p:nvPr/>
        </p:nvSpPr>
        <p:spPr>
          <a:xfrm>
            <a:off x="9747504" y="2167128"/>
            <a:ext cx="1600200" cy="329184"/>
          </a:xfrm>
          <a:prstGeom prst="rect">
            <a:avLst/>
          </a:prstGeom>
          <a:noFill/>
        </p:spPr>
        <p:txBody>
          <a:bodyPr wrap="square" anchor="t">
            <a:spAutoFit/>
          </a:bodyPr>
          <a:lstStyle/>
          <a:p>
            <a:pPr algn="l"/>
            <a:r>
              <a:rPr sz="1000" b="0">
                <a:solidFill>
                  <a:srgbClr val="64748B"/>
                </a:solidFill>
                <a:latin typeface="Aptos"/>
              </a:rPr>
              <a:t>gated fixtures</a:t>
            </a:r>
          </a:p>
        </p:txBody>
      </p:sp>
      <p:sp>
        <p:nvSpPr>
          <p:cNvPr id="26" name="Rounded Rectangle 25"/>
          <p:cNvSpPr/>
          <p:nvPr/>
        </p:nvSpPr>
        <p:spPr>
          <a:xfrm>
            <a:off x="658368" y="3063240"/>
            <a:ext cx="5257800" cy="25146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32688" y="3337560"/>
            <a:ext cx="4480560" cy="274320"/>
          </a:xfrm>
          <a:prstGeom prst="rect">
            <a:avLst/>
          </a:prstGeom>
          <a:noFill/>
        </p:spPr>
        <p:txBody>
          <a:bodyPr wrap="square" anchor="t">
            <a:spAutoFit/>
          </a:bodyPr>
          <a:lstStyle/>
          <a:p>
            <a:pPr algn="l"/>
            <a:r>
              <a:rPr sz="1100" b="1">
                <a:solidFill>
                  <a:srgbClr val="2563EB"/>
                </a:solidFill>
                <a:latin typeface="Aptos"/>
              </a:rPr>
              <a:t>CUSTOMER EXPERIENCE</a:t>
            </a:r>
          </a:p>
        </p:txBody>
      </p:sp>
      <p:sp>
        <p:nvSpPr>
          <p:cNvPr id="28" name="TextBox 27"/>
          <p:cNvSpPr txBox="1"/>
          <p:nvPr/>
        </p:nvSpPr>
        <p:spPr>
          <a:xfrm>
            <a:off x="932688" y="3749039"/>
            <a:ext cx="4389120" cy="1463040"/>
          </a:xfrm>
          <a:prstGeom prst="rect">
            <a:avLst/>
          </a:prstGeom>
          <a:noFill/>
        </p:spPr>
        <p:txBody>
          <a:bodyPr wrap="square">
            <a:spAutoFit/>
          </a:bodyPr>
          <a:lstStyle/>
          <a:p>
            <a:pPr>
              <a:spcAft>
                <a:spcPts val="700"/>
              </a:spcAft>
              <a:defRPr sz="1400">
                <a:solidFill>
                  <a:srgbClr val="1E293B"/>
                </a:solidFill>
                <a:latin typeface="Aptos"/>
              </a:defRPr>
            </a:pPr>
            <a:r>
              <a:t>• Plain-language symptom input</a:t>
            </a:r>
          </a:p>
          <a:p>
            <a:pPr>
              <a:spcAft>
                <a:spcPts val="700"/>
              </a:spcAft>
              <a:defRPr sz="1400">
                <a:solidFill>
                  <a:srgbClr val="1E293B"/>
                </a:solidFill>
                <a:latin typeface="Aptos"/>
              </a:defRPr>
            </a:pPr>
            <a:r>
              <a:t>• Short, grounded troubleshooting steps</a:t>
            </a:r>
          </a:p>
          <a:p>
            <a:pPr>
              <a:spcAft>
                <a:spcPts val="700"/>
              </a:spcAft>
              <a:defRPr sz="1400">
                <a:solidFill>
                  <a:srgbClr val="1E293B"/>
                </a:solidFill>
                <a:latin typeface="Aptos"/>
              </a:defRPr>
            </a:pPr>
            <a:r>
              <a:t>• Direct system action only when a precise catalog match exists</a:t>
            </a:r>
          </a:p>
          <a:p>
            <a:pPr>
              <a:spcAft>
                <a:spcPts val="700"/>
              </a:spcAft>
              <a:defRPr sz="1400">
                <a:solidFill>
                  <a:srgbClr val="1E293B"/>
                </a:solidFill>
                <a:latin typeface="Aptos"/>
              </a:defRPr>
            </a:pPr>
            <a:r>
              <a:t>• Manual fallback when confidence or mapping is insufficient</a:t>
            </a:r>
          </a:p>
        </p:txBody>
      </p:sp>
      <p:sp>
        <p:nvSpPr>
          <p:cNvPr id="29" name="Rounded Rectangle 28"/>
          <p:cNvSpPr/>
          <p:nvPr/>
        </p:nvSpPr>
        <p:spPr>
          <a:xfrm>
            <a:off x="6144768" y="3063240"/>
            <a:ext cx="5257800" cy="25146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3337560"/>
            <a:ext cx="4480560" cy="274320"/>
          </a:xfrm>
          <a:prstGeom prst="rect">
            <a:avLst/>
          </a:prstGeom>
          <a:noFill/>
        </p:spPr>
        <p:txBody>
          <a:bodyPr wrap="square" anchor="t">
            <a:spAutoFit/>
          </a:bodyPr>
          <a:lstStyle/>
          <a:p>
            <a:pPr algn="l"/>
            <a:r>
              <a:rPr sz="1100" b="1">
                <a:solidFill>
                  <a:srgbClr val="16A34A"/>
                </a:solidFill>
                <a:latin typeface="Aptos"/>
              </a:rPr>
              <a:t>ENGINEERING IMPACT</a:t>
            </a:r>
          </a:p>
        </p:txBody>
      </p:sp>
      <p:sp>
        <p:nvSpPr>
          <p:cNvPr id="31" name="TextBox 30"/>
          <p:cNvSpPr txBox="1"/>
          <p:nvPr/>
        </p:nvSpPr>
        <p:spPr>
          <a:xfrm>
            <a:off x="6419088" y="3749039"/>
            <a:ext cx="4389120" cy="1463040"/>
          </a:xfrm>
          <a:prstGeom prst="rect">
            <a:avLst/>
          </a:prstGeom>
          <a:noFill/>
        </p:spPr>
        <p:txBody>
          <a:bodyPr wrap="square">
            <a:spAutoFit/>
          </a:bodyPr>
          <a:lstStyle/>
          <a:p>
            <a:pPr>
              <a:spcAft>
                <a:spcPts val="700"/>
              </a:spcAft>
              <a:defRPr sz="1400">
                <a:solidFill>
                  <a:srgbClr val="1E293B"/>
                </a:solidFill>
                <a:latin typeface="Aptos"/>
              </a:defRPr>
            </a:pPr>
            <a:r>
              <a:t>• Auditable source boundaries</a:t>
            </a:r>
          </a:p>
          <a:p>
            <a:pPr>
              <a:spcAft>
                <a:spcPts val="700"/>
              </a:spcAft>
              <a:defRPr sz="1400">
                <a:solidFill>
                  <a:srgbClr val="1E293B"/>
                </a:solidFill>
                <a:latin typeface="Aptos"/>
              </a:defRPr>
            </a:pPr>
            <a:r>
              <a:t>• No generated Android/system URI</a:t>
            </a:r>
          </a:p>
          <a:p>
            <a:pPr>
              <a:spcAft>
                <a:spcPts val="700"/>
              </a:spcAft>
              <a:defRPr sz="1400">
                <a:solidFill>
                  <a:srgbClr val="1E293B"/>
                </a:solidFill>
                <a:latin typeface="Aptos"/>
              </a:defRPr>
            </a:pPr>
            <a:r>
              <a:t>• No dummy deeplink emission</a:t>
            </a:r>
          </a:p>
          <a:p>
            <a:pPr>
              <a:spcAft>
                <a:spcPts val="700"/>
              </a:spcAft>
              <a:defRPr sz="1400">
                <a:solidFill>
                  <a:srgbClr val="1E293B"/>
                </a:solidFill>
                <a:latin typeface="Aptos"/>
              </a:defRPr>
            </a:pPr>
            <a:r>
              <a:t>• Schema-checked output and deterministic registry lookup</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1323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8961120" cy="384048"/>
          </a:xfrm>
          <a:prstGeom prst="rect">
            <a:avLst/>
          </a:prstGeom>
          <a:noFill/>
        </p:spPr>
        <p:txBody>
          <a:bodyPr wrap="square" anchor="t">
            <a:spAutoFit/>
          </a:bodyPr>
          <a:lstStyle/>
          <a:p>
            <a:pPr algn="l"/>
            <a:r>
              <a:rPr sz="2400" b="1">
                <a:solidFill>
                  <a:srgbClr val="FFFFFF"/>
                </a:solidFill>
                <a:latin typeface="Aptos"/>
              </a:rPr>
              <a:t>Innovation Highlights, Results &amp; Limitations</a:t>
            </a:r>
          </a:p>
        </p:txBody>
      </p:sp>
      <p:sp>
        <p:nvSpPr>
          <p:cNvPr id="4" name="TextBox 3"/>
          <p:cNvSpPr txBox="1"/>
          <p:nvPr/>
        </p:nvSpPr>
        <p:spPr>
          <a:xfrm>
            <a:off x="10698480" y="192024"/>
            <a:ext cx="731520" cy="228600"/>
          </a:xfrm>
          <a:prstGeom prst="rect">
            <a:avLst/>
          </a:prstGeom>
          <a:noFill/>
        </p:spPr>
        <p:txBody>
          <a:bodyPr wrap="square" anchor="t">
            <a:spAutoFit/>
          </a:bodyPr>
          <a:lstStyle/>
          <a:p>
            <a:pPr algn="r"/>
            <a:r>
              <a:rPr sz="900" b="1">
                <a:solidFill>
                  <a:srgbClr val="94A3B8"/>
                </a:solidFill>
                <a:latin typeface="Aptos"/>
              </a:rPr>
              <a:t>07</a:t>
            </a:r>
          </a:p>
        </p:txBody>
      </p:sp>
      <p:sp>
        <p:nvSpPr>
          <p:cNvPr id="5" name="TextBox 4"/>
          <p:cNvSpPr txBox="1"/>
          <p:nvPr/>
        </p:nvSpPr>
        <p:spPr>
          <a:xfrm>
            <a:off x="640080" y="932688"/>
            <a:ext cx="6583680" cy="411480"/>
          </a:xfrm>
          <a:prstGeom prst="rect">
            <a:avLst/>
          </a:prstGeom>
          <a:noFill/>
        </p:spPr>
        <p:txBody>
          <a:bodyPr wrap="square" anchor="t">
            <a:spAutoFit/>
          </a:bodyPr>
          <a:lstStyle/>
          <a:p>
            <a:pPr algn="l"/>
            <a:r>
              <a:rPr sz="2400" b="1">
                <a:solidFill>
                  <a:srgbClr val="0F172A"/>
                </a:solidFill>
                <a:latin typeface="Aptos"/>
              </a:rPr>
              <a:t>What is technically distinctive</a:t>
            </a:r>
          </a:p>
        </p:txBody>
      </p:sp>
      <p:sp>
        <p:nvSpPr>
          <p:cNvPr id="6" name="Rounded Rectangle 5"/>
          <p:cNvSpPr/>
          <p:nvPr/>
        </p:nvSpPr>
        <p:spPr>
          <a:xfrm>
            <a:off x="658368" y="1572768"/>
            <a:ext cx="3401568"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572768"/>
            <a:ext cx="3401568"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828800"/>
            <a:ext cx="2926080" cy="411480"/>
          </a:xfrm>
          <a:prstGeom prst="rect">
            <a:avLst/>
          </a:prstGeom>
          <a:noFill/>
        </p:spPr>
        <p:txBody>
          <a:bodyPr wrap="square" anchor="t">
            <a:spAutoFit/>
          </a:bodyPr>
          <a:lstStyle/>
          <a:p>
            <a:pPr algn="l"/>
            <a:r>
              <a:rPr sz="1100" b="1">
                <a:solidFill>
                  <a:srgbClr val="2563EB"/>
                </a:solidFill>
                <a:latin typeface="Aptos"/>
              </a:rPr>
              <a:t>REGISTRY-LOCKED ACTIONS</a:t>
            </a:r>
          </a:p>
        </p:txBody>
      </p:sp>
      <p:sp>
        <p:nvSpPr>
          <p:cNvPr id="9" name="TextBox 8"/>
          <p:cNvSpPr txBox="1"/>
          <p:nvPr/>
        </p:nvSpPr>
        <p:spPr>
          <a:xfrm>
            <a:off x="859536" y="2423160"/>
            <a:ext cx="2926080" cy="914400"/>
          </a:xfrm>
          <a:prstGeom prst="rect">
            <a:avLst/>
          </a:prstGeom>
          <a:noFill/>
        </p:spPr>
        <p:txBody>
          <a:bodyPr wrap="square" anchor="t">
            <a:spAutoFit/>
          </a:bodyPr>
          <a:lstStyle/>
          <a:p>
            <a:pPr algn="l"/>
            <a:r>
              <a:rPr sz="1300" b="0">
                <a:solidFill>
                  <a:srgbClr val="1E293B"/>
                </a:solidFill>
                <a:latin typeface="Aptos"/>
              </a:rPr>
              <a:t>Final deeplink URIs come only from the official catalog. No URI generation or inference.</a:t>
            </a:r>
          </a:p>
        </p:txBody>
      </p:sp>
      <p:sp>
        <p:nvSpPr>
          <p:cNvPr id="10" name="Rounded Rectangle 9"/>
          <p:cNvSpPr/>
          <p:nvPr/>
        </p:nvSpPr>
        <p:spPr>
          <a:xfrm>
            <a:off x="4389120" y="1572768"/>
            <a:ext cx="3401568"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572768"/>
            <a:ext cx="3401568" cy="73152"/>
          </a:xfrm>
          <a:prstGeom prst="rect">
            <a:avLst/>
          </a:prstGeom>
          <a:solidFill>
            <a:srgbClr val="16A34A"/>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828800"/>
            <a:ext cx="2926080" cy="411480"/>
          </a:xfrm>
          <a:prstGeom prst="rect">
            <a:avLst/>
          </a:prstGeom>
          <a:noFill/>
        </p:spPr>
        <p:txBody>
          <a:bodyPr wrap="square" anchor="t">
            <a:spAutoFit/>
          </a:bodyPr>
          <a:lstStyle/>
          <a:p>
            <a:pPr algn="l"/>
            <a:r>
              <a:rPr sz="1100" b="1">
                <a:solidFill>
                  <a:srgbClr val="16A34A"/>
                </a:solidFill>
                <a:latin typeface="Aptos"/>
              </a:rPr>
              <a:t>CONSERVATIVE GATING</a:t>
            </a:r>
          </a:p>
        </p:txBody>
      </p:sp>
      <p:sp>
        <p:nvSpPr>
          <p:cNvPr id="13" name="TextBox 12"/>
          <p:cNvSpPr txBox="1"/>
          <p:nvPr/>
        </p:nvSpPr>
        <p:spPr>
          <a:xfrm>
            <a:off x="4590288" y="2423160"/>
            <a:ext cx="2926080" cy="914400"/>
          </a:xfrm>
          <a:prstGeom prst="rect">
            <a:avLst/>
          </a:prstGeom>
          <a:noFill/>
        </p:spPr>
        <p:txBody>
          <a:bodyPr wrap="square" anchor="t">
            <a:spAutoFit/>
          </a:bodyPr>
          <a:lstStyle/>
          <a:p>
            <a:pPr algn="l"/>
            <a:r>
              <a:rPr sz="1300" b="0">
                <a:solidFill>
                  <a:srgbClr val="1E293B"/>
                </a:solidFill>
                <a:latin typeface="Aptos"/>
              </a:rPr>
              <a:t>Weak or mismatched SIIS relevance returns an empty context instead of fabricating guidance.</a:t>
            </a:r>
          </a:p>
        </p:txBody>
      </p:sp>
      <p:sp>
        <p:nvSpPr>
          <p:cNvPr id="14" name="Rounded Rectangle 13"/>
          <p:cNvSpPr/>
          <p:nvPr/>
        </p:nvSpPr>
        <p:spPr>
          <a:xfrm>
            <a:off x="8119872" y="1572768"/>
            <a:ext cx="3401568"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9872" y="1572768"/>
            <a:ext cx="3401568" cy="73152"/>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828800"/>
            <a:ext cx="2926080" cy="411480"/>
          </a:xfrm>
          <a:prstGeom prst="rect">
            <a:avLst/>
          </a:prstGeom>
          <a:noFill/>
        </p:spPr>
        <p:txBody>
          <a:bodyPr wrap="square" anchor="t">
            <a:spAutoFit/>
          </a:bodyPr>
          <a:lstStyle/>
          <a:p>
            <a:pPr algn="l"/>
            <a:r>
              <a:rPr sz="1100" b="1">
                <a:solidFill>
                  <a:srgbClr val="06B6D4"/>
                </a:solidFill>
                <a:latin typeface="Aptos"/>
              </a:rPr>
              <a:t>DUAL-PIPELINE DESIGN</a:t>
            </a:r>
          </a:p>
        </p:txBody>
      </p:sp>
      <p:sp>
        <p:nvSpPr>
          <p:cNvPr id="17" name="TextBox 16"/>
          <p:cNvSpPr txBox="1"/>
          <p:nvPr/>
        </p:nvSpPr>
        <p:spPr>
          <a:xfrm>
            <a:off x="8321040" y="2423160"/>
            <a:ext cx="2926080" cy="914400"/>
          </a:xfrm>
          <a:prstGeom prst="rect">
            <a:avLst/>
          </a:prstGeom>
          <a:noFill/>
        </p:spPr>
        <p:txBody>
          <a:bodyPr wrap="square" anchor="t">
            <a:spAutoFit/>
          </a:bodyPr>
          <a:lstStyle/>
          <a:p>
            <a:pPr algn="l"/>
            <a:r>
              <a:rPr sz="1300" b="0">
                <a:solidFill>
                  <a:srgbClr val="1E293B"/>
                </a:solidFill>
                <a:latin typeface="Aptos"/>
              </a:rPr>
              <a:t>Existing troubleshooting remains available while Theme 2 runs as a separate grounded path.</a:t>
            </a:r>
          </a:p>
        </p:txBody>
      </p:sp>
      <p:sp>
        <p:nvSpPr>
          <p:cNvPr id="18" name="TextBox 17"/>
          <p:cNvSpPr txBox="1"/>
          <p:nvPr/>
        </p:nvSpPr>
        <p:spPr>
          <a:xfrm>
            <a:off x="658368" y="4160520"/>
            <a:ext cx="1097280" cy="274320"/>
          </a:xfrm>
          <a:prstGeom prst="rect">
            <a:avLst/>
          </a:prstGeom>
          <a:noFill/>
        </p:spPr>
        <p:txBody>
          <a:bodyPr wrap="square" anchor="t">
            <a:spAutoFit/>
          </a:bodyPr>
          <a:lstStyle/>
          <a:p>
            <a:pPr algn="l"/>
            <a:r>
              <a:rPr sz="1100" b="1">
                <a:solidFill>
                  <a:srgbClr val="2563EB"/>
                </a:solidFill>
                <a:latin typeface="Aptos"/>
              </a:rPr>
              <a:t>RESULTS</a:t>
            </a:r>
          </a:p>
        </p:txBody>
      </p:sp>
      <p:sp>
        <p:nvSpPr>
          <p:cNvPr id="19" name="TextBox 18"/>
          <p:cNvSpPr txBox="1"/>
          <p:nvPr/>
        </p:nvSpPr>
        <p:spPr>
          <a:xfrm>
            <a:off x="658368" y="4498848"/>
            <a:ext cx="6720840" cy="1325880"/>
          </a:xfrm>
          <a:prstGeom prst="rect">
            <a:avLst/>
          </a:prstGeom>
          <a:noFill/>
        </p:spPr>
        <p:txBody>
          <a:bodyPr wrap="square">
            <a:spAutoFit/>
          </a:bodyPr>
          <a:lstStyle/>
          <a:p>
            <a:pPr>
              <a:spcAft>
                <a:spcPts val="700"/>
              </a:spcAft>
              <a:defRPr sz="1300">
                <a:solidFill>
                  <a:srgbClr val="1E293B"/>
                </a:solidFill>
                <a:latin typeface="Aptos"/>
              </a:defRPr>
            </a:pPr>
            <a:r>
              <a:t>• 20/20 official Theme 2 fixtures covered by the automated verification suite.</a:t>
            </a:r>
          </a:p>
          <a:p>
            <a:pPr>
              <a:spcAft>
                <a:spcPts val="700"/>
              </a:spcAft>
              <a:defRPr sz="1300">
                <a:solidFill>
                  <a:srgbClr val="1E293B"/>
                </a:solidFill>
                <a:latin typeface="Aptos"/>
              </a:defRPr>
            </a:pPr>
            <a:r>
              <a:t>• 44 tests pass across Theme 2 verification groups.</a:t>
            </a:r>
          </a:p>
          <a:p>
            <a:pPr>
              <a:spcAft>
                <a:spcPts val="700"/>
              </a:spcAft>
              <a:defRPr sz="1300">
                <a:solidFill>
                  <a:srgbClr val="1E293B"/>
                </a:solidFill>
                <a:latin typeface="Aptos"/>
              </a:defRPr>
            </a:pPr>
            <a:r>
              <a:t>• 28 emitted URIs were checked against the official catalog; none were fabricated.</a:t>
            </a:r>
          </a:p>
          <a:p>
            <a:pPr>
              <a:spcAft>
                <a:spcPts val="700"/>
              </a:spcAft>
              <a:defRPr sz="1300">
                <a:solidFill>
                  <a:srgbClr val="1E293B"/>
                </a:solidFill>
                <a:latin typeface="Aptos"/>
              </a:defRPr>
            </a:pPr>
            <a:r>
              <a:t>• Manual actions keep deeplink fields null when there is no precise catalog match.</a:t>
            </a:r>
          </a:p>
        </p:txBody>
      </p:sp>
      <p:sp>
        <p:nvSpPr>
          <p:cNvPr id="20" name="TextBox 19"/>
          <p:cNvSpPr txBox="1"/>
          <p:nvPr/>
        </p:nvSpPr>
        <p:spPr>
          <a:xfrm>
            <a:off x="7726679" y="4160520"/>
            <a:ext cx="1371600" cy="274320"/>
          </a:xfrm>
          <a:prstGeom prst="rect">
            <a:avLst/>
          </a:prstGeom>
          <a:noFill/>
        </p:spPr>
        <p:txBody>
          <a:bodyPr wrap="square" anchor="t">
            <a:spAutoFit/>
          </a:bodyPr>
          <a:lstStyle/>
          <a:p>
            <a:pPr algn="l"/>
            <a:r>
              <a:rPr sz="1100" b="1">
                <a:solidFill>
                  <a:srgbClr val="DC2626"/>
                </a:solidFill>
                <a:latin typeface="Aptos"/>
              </a:rPr>
              <a:t>LIMITATIONS</a:t>
            </a:r>
          </a:p>
        </p:txBody>
      </p:sp>
      <p:sp>
        <p:nvSpPr>
          <p:cNvPr id="21" name="TextBox 20"/>
          <p:cNvSpPr txBox="1"/>
          <p:nvPr/>
        </p:nvSpPr>
        <p:spPr>
          <a:xfrm>
            <a:off x="7726679" y="4498848"/>
            <a:ext cx="3611880" cy="1325880"/>
          </a:xfrm>
          <a:prstGeom prst="rect">
            <a:avLst/>
          </a:prstGeom>
          <a:noFill/>
        </p:spPr>
        <p:txBody>
          <a:bodyPr wrap="square">
            <a:spAutoFit/>
          </a:bodyPr>
          <a:lstStyle/>
          <a:p>
            <a:pPr>
              <a:spcAft>
                <a:spcPts val="700"/>
              </a:spcAft>
              <a:defRPr sz="1300">
                <a:solidFill>
                  <a:srgbClr val="1E293B"/>
                </a:solidFill>
                <a:latin typeface="Aptos"/>
              </a:defRPr>
            </a:pPr>
            <a:r>
              <a:t>• SIIS coverage is limited to the supplied 20 responses.</a:t>
            </a:r>
          </a:p>
          <a:p>
            <a:pPr>
              <a:spcAft>
                <a:spcPts val="700"/>
              </a:spcAft>
              <a:defRPr sz="1300">
                <a:solidFill>
                  <a:srgbClr val="1E293B"/>
                </a:solidFill>
                <a:latin typeface="Aptos"/>
              </a:defRPr>
            </a:pPr>
            <a:r>
              <a:t>• Conservative gating can intentionally produce no context.</a:t>
            </a:r>
          </a:p>
          <a:p>
            <a:pPr>
              <a:spcAft>
                <a:spcPts val="700"/>
              </a:spcAft>
              <a:defRPr sz="1300">
                <a:solidFill>
                  <a:srgbClr val="1E293B"/>
                </a:solidFill>
                <a:latin typeface="Aptos"/>
              </a:defRPr>
            </a:pPr>
            <a:r>
              <a:t>• Catalog coverage determines which actions can be automated.</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1323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8961120" cy="384048"/>
          </a:xfrm>
          <a:prstGeom prst="rect">
            <a:avLst/>
          </a:prstGeom>
          <a:noFill/>
        </p:spPr>
        <p:txBody>
          <a:bodyPr wrap="square" anchor="t">
            <a:spAutoFit/>
          </a:bodyPr>
          <a:lstStyle/>
          <a:p>
            <a:pPr algn="l"/>
            <a:r>
              <a:rPr sz="2400" b="1">
                <a:solidFill>
                  <a:srgbClr val="FFFFFF"/>
                </a:solidFill>
                <a:latin typeface="Aptos"/>
              </a:rPr>
              <a:t>What's Next</a:t>
            </a:r>
          </a:p>
        </p:txBody>
      </p:sp>
      <p:sp>
        <p:nvSpPr>
          <p:cNvPr id="4" name="TextBox 3"/>
          <p:cNvSpPr txBox="1"/>
          <p:nvPr/>
        </p:nvSpPr>
        <p:spPr>
          <a:xfrm>
            <a:off x="10698480" y="192024"/>
            <a:ext cx="731520" cy="228600"/>
          </a:xfrm>
          <a:prstGeom prst="rect">
            <a:avLst/>
          </a:prstGeom>
          <a:noFill/>
        </p:spPr>
        <p:txBody>
          <a:bodyPr wrap="square" anchor="t">
            <a:spAutoFit/>
          </a:bodyPr>
          <a:lstStyle/>
          <a:p>
            <a:pPr algn="r"/>
            <a:r>
              <a:rPr sz="900" b="1">
                <a:solidFill>
                  <a:srgbClr val="94A3B8"/>
                </a:solidFill>
                <a:latin typeface="Aptos"/>
              </a:rPr>
              <a:t>08</a:t>
            </a:r>
          </a:p>
        </p:txBody>
      </p:sp>
      <p:sp>
        <p:nvSpPr>
          <p:cNvPr id="5" name="TextBox 4"/>
          <p:cNvSpPr txBox="1"/>
          <p:nvPr/>
        </p:nvSpPr>
        <p:spPr>
          <a:xfrm>
            <a:off x="640080" y="932688"/>
            <a:ext cx="8412480" cy="411480"/>
          </a:xfrm>
          <a:prstGeom prst="rect">
            <a:avLst/>
          </a:prstGeom>
          <a:noFill/>
        </p:spPr>
        <p:txBody>
          <a:bodyPr wrap="square" anchor="t">
            <a:spAutoFit/>
          </a:bodyPr>
          <a:lstStyle/>
          <a:p>
            <a:pPr algn="l"/>
            <a:r>
              <a:rPr sz="2400" b="1">
                <a:solidFill>
                  <a:srgbClr val="0F172A"/>
                </a:solidFill>
                <a:latin typeface="Aptos"/>
              </a:rPr>
              <a:t>Expand coverage without weakening the safety boundary</a:t>
            </a:r>
          </a:p>
        </p:txBody>
      </p:sp>
      <p:sp>
        <p:nvSpPr>
          <p:cNvPr id="6" name="Rounded Rectangle 5"/>
          <p:cNvSpPr/>
          <p:nvPr/>
        </p:nvSpPr>
        <p:spPr>
          <a:xfrm>
            <a:off x="685800" y="1572768"/>
            <a:ext cx="566928"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09928"/>
            <a:ext cx="566928" cy="182880"/>
          </a:xfrm>
          <a:prstGeom prst="rect">
            <a:avLst/>
          </a:prstGeom>
          <a:noFill/>
        </p:spPr>
        <p:txBody>
          <a:bodyPr wrap="square" anchor="t">
            <a:spAutoFit/>
          </a:bodyPr>
          <a:lstStyle/>
          <a:p>
            <a:pPr algn="ctr"/>
            <a:r>
              <a:rPr sz="900" b="1">
                <a:solidFill>
                  <a:srgbClr val="FFFFFF"/>
                </a:solidFill>
                <a:latin typeface="Aptos"/>
              </a:rPr>
              <a:t>01</a:t>
            </a:r>
          </a:p>
        </p:txBody>
      </p:sp>
      <p:sp>
        <p:nvSpPr>
          <p:cNvPr id="8" name="TextBox 7"/>
          <p:cNvSpPr txBox="1"/>
          <p:nvPr/>
        </p:nvSpPr>
        <p:spPr>
          <a:xfrm>
            <a:off x="1508760" y="1572768"/>
            <a:ext cx="2971800" cy="256032"/>
          </a:xfrm>
          <a:prstGeom prst="rect">
            <a:avLst/>
          </a:prstGeom>
          <a:noFill/>
        </p:spPr>
        <p:txBody>
          <a:bodyPr wrap="square" anchor="t">
            <a:spAutoFit/>
          </a:bodyPr>
          <a:lstStyle/>
          <a:p>
            <a:pPr algn="l"/>
            <a:r>
              <a:rPr sz="1400" b="1">
                <a:solidFill>
                  <a:srgbClr val="0F172A"/>
                </a:solidFill>
                <a:latin typeface="Aptos"/>
              </a:rPr>
              <a:t>Broader SIIS coverage</a:t>
            </a:r>
          </a:p>
        </p:txBody>
      </p:sp>
      <p:sp>
        <p:nvSpPr>
          <p:cNvPr id="9" name="TextBox 8"/>
          <p:cNvSpPr txBox="1"/>
          <p:nvPr/>
        </p:nvSpPr>
        <p:spPr>
          <a:xfrm>
            <a:off x="4160520" y="1572768"/>
            <a:ext cx="7040880" cy="310896"/>
          </a:xfrm>
          <a:prstGeom prst="rect">
            <a:avLst/>
          </a:prstGeom>
          <a:noFill/>
        </p:spPr>
        <p:txBody>
          <a:bodyPr wrap="square" anchor="t">
            <a:spAutoFit/>
          </a:bodyPr>
          <a:lstStyle/>
          <a:p>
            <a:pPr algn="l"/>
            <a:r>
              <a:rPr sz="1100" b="0">
                <a:solidFill>
                  <a:srgbClr val="64748B"/>
                </a:solidFill>
                <a:latin typeface="Aptos"/>
              </a:rPr>
              <a:t>Add more high-quality, device-agnostic troubleshooting flows.</a:t>
            </a:r>
          </a:p>
        </p:txBody>
      </p:sp>
      <p:sp>
        <p:nvSpPr>
          <p:cNvPr id="10" name="Rounded Rectangle 9"/>
          <p:cNvSpPr/>
          <p:nvPr/>
        </p:nvSpPr>
        <p:spPr>
          <a:xfrm>
            <a:off x="685800" y="2395728"/>
            <a:ext cx="566928"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532888"/>
            <a:ext cx="566928" cy="182880"/>
          </a:xfrm>
          <a:prstGeom prst="rect">
            <a:avLst/>
          </a:prstGeom>
          <a:noFill/>
        </p:spPr>
        <p:txBody>
          <a:bodyPr wrap="square" anchor="t">
            <a:spAutoFit/>
          </a:bodyPr>
          <a:lstStyle/>
          <a:p>
            <a:pPr algn="ctr"/>
            <a:r>
              <a:rPr sz="900" b="1">
                <a:solidFill>
                  <a:srgbClr val="FFFFFF"/>
                </a:solidFill>
                <a:latin typeface="Aptos"/>
              </a:rPr>
              <a:t>02</a:t>
            </a:r>
          </a:p>
        </p:txBody>
      </p:sp>
      <p:sp>
        <p:nvSpPr>
          <p:cNvPr id="12" name="TextBox 11"/>
          <p:cNvSpPr txBox="1"/>
          <p:nvPr/>
        </p:nvSpPr>
        <p:spPr>
          <a:xfrm>
            <a:off x="1508760" y="2395728"/>
            <a:ext cx="2971800" cy="256032"/>
          </a:xfrm>
          <a:prstGeom prst="rect">
            <a:avLst/>
          </a:prstGeom>
          <a:noFill/>
        </p:spPr>
        <p:txBody>
          <a:bodyPr wrap="square" anchor="t">
            <a:spAutoFit/>
          </a:bodyPr>
          <a:lstStyle/>
          <a:p>
            <a:pPr algn="l"/>
            <a:r>
              <a:rPr sz="1400" b="1">
                <a:solidFill>
                  <a:srgbClr val="0F172A"/>
                </a:solidFill>
                <a:latin typeface="Aptos"/>
              </a:rPr>
              <a:t>Catalog coverage</a:t>
            </a:r>
          </a:p>
        </p:txBody>
      </p:sp>
      <p:sp>
        <p:nvSpPr>
          <p:cNvPr id="13" name="TextBox 12"/>
          <p:cNvSpPr txBox="1"/>
          <p:nvPr/>
        </p:nvSpPr>
        <p:spPr>
          <a:xfrm>
            <a:off x="4160520" y="2395728"/>
            <a:ext cx="7040880" cy="310896"/>
          </a:xfrm>
          <a:prstGeom prst="rect">
            <a:avLst/>
          </a:prstGeom>
          <a:noFill/>
        </p:spPr>
        <p:txBody>
          <a:bodyPr wrap="square" anchor="t">
            <a:spAutoFit/>
          </a:bodyPr>
          <a:lstStyle/>
          <a:p>
            <a:pPr algn="l"/>
            <a:r>
              <a:rPr sz="1100" b="0">
                <a:solidFill>
                  <a:srgbClr val="64748B"/>
                </a:solidFill>
                <a:latin typeface="Aptos"/>
              </a:rPr>
              <a:t>Expand verified action/validation mappings as official deeplinks become available.</a:t>
            </a:r>
          </a:p>
        </p:txBody>
      </p:sp>
      <p:sp>
        <p:nvSpPr>
          <p:cNvPr id="14" name="Rounded Rectangle 13"/>
          <p:cNvSpPr/>
          <p:nvPr/>
        </p:nvSpPr>
        <p:spPr>
          <a:xfrm>
            <a:off x="685800" y="3218688"/>
            <a:ext cx="566928"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355848"/>
            <a:ext cx="566928" cy="182880"/>
          </a:xfrm>
          <a:prstGeom prst="rect">
            <a:avLst/>
          </a:prstGeom>
          <a:noFill/>
        </p:spPr>
        <p:txBody>
          <a:bodyPr wrap="square" anchor="t">
            <a:spAutoFit/>
          </a:bodyPr>
          <a:lstStyle/>
          <a:p>
            <a:pPr algn="ctr"/>
            <a:r>
              <a:rPr sz="900" b="1">
                <a:solidFill>
                  <a:srgbClr val="FFFFFF"/>
                </a:solidFill>
                <a:latin typeface="Aptos"/>
              </a:rPr>
              <a:t>03</a:t>
            </a:r>
          </a:p>
        </p:txBody>
      </p:sp>
      <p:sp>
        <p:nvSpPr>
          <p:cNvPr id="16" name="TextBox 15"/>
          <p:cNvSpPr txBox="1"/>
          <p:nvPr/>
        </p:nvSpPr>
        <p:spPr>
          <a:xfrm>
            <a:off x="1508760" y="3218688"/>
            <a:ext cx="2971800" cy="256032"/>
          </a:xfrm>
          <a:prstGeom prst="rect">
            <a:avLst/>
          </a:prstGeom>
          <a:noFill/>
        </p:spPr>
        <p:txBody>
          <a:bodyPr wrap="square" anchor="t">
            <a:spAutoFit/>
          </a:bodyPr>
          <a:lstStyle/>
          <a:p>
            <a:pPr algn="l"/>
            <a:r>
              <a:rPr sz="1400" b="1">
                <a:solidFill>
                  <a:srgbClr val="0F172A"/>
                </a:solidFill>
                <a:latin typeface="Aptos"/>
              </a:rPr>
              <a:t>Confidence calibration</a:t>
            </a:r>
          </a:p>
        </p:txBody>
      </p:sp>
      <p:sp>
        <p:nvSpPr>
          <p:cNvPr id="17" name="TextBox 16"/>
          <p:cNvSpPr txBox="1"/>
          <p:nvPr/>
        </p:nvSpPr>
        <p:spPr>
          <a:xfrm>
            <a:off x="4160520" y="3218688"/>
            <a:ext cx="7040880" cy="310896"/>
          </a:xfrm>
          <a:prstGeom prst="rect">
            <a:avLst/>
          </a:prstGeom>
          <a:noFill/>
        </p:spPr>
        <p:txBody>
          <a:bodyPr wrap="square" anchor="t">
            <a:spAutoFit/>
          </a:bodyPr>
          <a:lstStyle/>
          <a:p>
            <a:pPr algn="l"/>
            <a:r>
              <a:rPr sz="1100" b="0">
                <a:solidFill>
                  <a:srgbClr val="64748B"/>
                </a:solidFill>
                <a:latin typeface="Aptos"/>
              </a:rPr>
              <a:t>Tune relevance thresholds using larger evaluation sets and failure analysis.</a:t>
            </a:r>
          </a:p>
        </p:txBody>
      </p:sp>
      <p:sp>
        <p:nvSpPr>
          <p:cNvPr id="18" name="Rounded Rectangle 17"/>
          <p:cNvSpPr/>
          <p:nvPr/>
        </p:nvSpPr>
        <p:spPr>
          <a:xfrm>
            <a:off x="685800" y="4041648"/>
            <a:ext cx="566928"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178808"/>
            <a:ext cx="566928" cy="182880"/>
          </a:xfrm>
          <a:prstGeom prst="rect">
            <a:avLst/>
          </a:prstGeom>
          <a:noFill/>
        </p:spPr>
        <p:txBody>
          <a:bodyPr wrap="square" anchor="t">
            <a:spAutoFit/>
          </a:bodyPr>
          <a:lstStyle/>
          <a:p>
            <a:pPr algn="ctr"/>
            <a:r>
              <a:rPr sz="900" b="1">
                <a:solidFill>
                  <a:srgbClr val="FFFFFF"/>
                </a:solidFill>
                <a:latin typeface="Aptos"/>
              </a:rPr>
              <a:t>04</a:t>
            </a:r>
          </a:p>
        </p:txBody>
      </p:sp>
      <p:sp>
        <p:nvSpPr>
          <p:cNvPr id="20" name="TextBox 19"/>
          <p:cNvSpPr txBox="1"/>
          <p:nvPr/>
        </p:nvSpPr>
        <p:spPr>
          <a:xfrm>
            <a:off x="1508760" y="4041648"/>
            <a:ext cx="2971800" cy="256032"/>
          </a:xfrm>
          <a:prstGeom prst="rect">
            <a:avLst/>
          </a:prstGeom>
          <a:noFill/>
        </p:spPr>
        <p:txBody>
          <a:bodyPr wrap="square" anchor="t">
            <a:spAutoFit/>
          </a:bodyPr>
          <a:lstStyle/>
          <a:p>
            <a:pPr algn="l"/>
            <a:r>
              <a:rPr sz="1400" b="1">
                <a:solidFill>
                  <a:srgbClr val="0F172A"/>
                </a:solidFill>
                <a:latin typeface="Aptos"/>
              </a:rPr>
              <a:t>Operational telemetry</a:t>
            </a:r>
          </a:p>
        </p:txBody>
      </p:sp>
      <p:sp>
        <p:nvSpPr>
          <p:cNvPr id="21" name="TextBox 20"/>
          <p:cNvSpPr txBox="1"/>
          <p:nvPr/>
        </p:nvSpPr>
        <p:spPr>
          <a:xfrm>
            <a:off x="4160520" y="4041648"/>
            <a:ext cx="7040880" cy="310896"/>
          </a:xfrm>
          <a:prstGeom prst="rect">
            <a:avLst/>
          </a:prstGeom>
          <a:noFill/>
        </p:spPr>
        <p:txBody>
          <a:bodyPr wrap="square" anchor="t">
            <a:spAutoFit/>
          </a:bodyPr>
          <a:lstStyle/>
          <a:p>
            <a:pPr algn="l"/>
            <a:r>
              <a:rPr sz="1100" b="0">
                <a:solidFill>
                  <a:srgbClr val="64748B"/>
                </a:solidFill>
                <a:latin typeface="Aptos"/>
              </a:rPr>
              <a:t>Measure resolution rate, manual fallback rate and invalid-action prevention.</a:t>
            </a:r>
          </a:p>
        </p:txBody>
      </p:sp>
      <p:sp>
        <p:nvSpPr>
          <p:cNvPr id="22" name="Rounded Rectangle 21"/>
          <p:cNvSpPr/>
          <p:nvPr/>
        </p:nvSpPr>
        <p:spPr>
          <a:xfrm>
            <a:off x="685800" y="4864608"/>
            <a:ext cx="566928"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5001768"/>
            <a:ext cx="566928" cy="182880"/>
          </a:xfrm>
          <a:prstGeom prst="rect">
            <a:avLst/>
          </a:prstGeom>
          <a:noFill/>
        </p:spPr>
        <p:txBody>
          <a:bodyPr wrap="square" anchor="t">
            <a:spAutoFit/>
          </a:bodyPr>
          <a:lstStyle/>
          <a:p>
            <a:pPr algn="ctr"/>
            <a:r>
              <a:rPr sz="900" b="1">
                <a:solidFill>
                  <a:srgbClr val="FFFFFF"/>
                </a:solidFill>
                <a:latin typeface="Aptos"/>
              </a:rPr>
              <a:t>05</a:t>
            </a:r>
          </a:p>
        </p:txBody>
      </p:sp>
      <p:sp>
        <p:nvSpPr>
          <p:cNvPr id="24" name="TextBox 23"/>
          <p:cNvSpPr txBox="1"/>
          <p:nvPr/>
        </p:nvSpPr>
        <p:spPr>
          <a:xfrm>
            <a:off x="1508760" y="4864608"/>
            <a:ext cx="2971800" cy="256032"/>
          </a:xfrm>
          <a:prstGeom prst="rect">
            <a:avLst/>
          </a:prstGeom>
          <a:noFill/>
        </p:spPr>
        <p:txBody>
          <a:bodyPr wrap="square" anchor="t">
            <a:spAutoFit/>
          </a:bodyPr>
          <a:lstStyle/>
          <a:p>
            <a:pPr algn="l"/>
            <a:r>
              <a:rPr sz="1400" b="1">
                <a:solidFill>
                  <a:srgbClr val="0F172A"/>
                </a:solidFill>
                <a:latin typeface="Aptos"/>
              </a:rPr>
              <a:t>Worklet-ready packaging</a:t>
            </a:r>
          </a:p>
        </p:txBody>
      </p:sp>
      <p:sp>
        <p:nvSpPr>
          <p:cNvPr id="25" name="TextBox 24"/>
          <p:cNvSpPr txBox="1"/>
          <p:nvPr/>
        </p:nvSpPr>
        <p:spPr>
          <a:xfrm>
            <a:off x="4160520" y="4864608"/>
            <a:ext cx="7040880" cy="310896"/>
          </a:xfrm>
          <a:prstGeom prst="rect">
            <a:avLst/>
          </a:prstGeom>
          <a:noFill/>
        </p:spPr>
        <p:txBody>
          <a:bodyPr wrap="square" anchor="t">
            <a:spAutoFit/>
          </a:bodyPr>
          <a:lstStyle/>
          <a:p>
            <a:pPr algn="l"/>
            <a:r>
              <a:rPr sz="1100" b="0">
                <a:solidFill>
                  <a:srgbClr val="64748B"/>
                </a:solidFill>
                <a:latin typeface="Aptos"/>
              </a:rPr>
              <a:t>Expose the grounded flow as a reusable troubleshooting capability.</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1323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8961120" cy="384048"/>
          </a:xfrm>
          <a:prstGeom prst="rect">
            <a:avLst/>
          </a:prstGeom>
          <a:noFill/>
        </p:spPr>
        <p:txBody>
          <a:bodyPr wrap="square" anchor="t">
            <a:spAutoFit/>
          </a:bodyPr>
          <a:lstStyle/>
          <a:p>
            <a:pPr algn="l"/>
            <a:r>
              <a:rPr sz="2400" b="1">
                <a:solidFill>
                  <a:srgbClr val="FFFFFF"/>
                </a:solidFill>
                <a:latin typeface="Aptos"/>
              </a:rPr>
              <a:t>Brownie Points / Differentiation</a:t>
            </a:r>
          </a:p>
        </p:txBody>
      </p:sp>
      <p:sp>
        <p:nvSpPr>
          <p:cNvPr id="4" name="TextBox 3"/>
          <p:cNvSpPr txBox="1"/>
          <p:nvPr/>
        </p:nvSpPr>
        <p:spPr>
          <a:xfrm>
            <a:off x="10698480" y="192024"/>
            <a:ext cx="731520" cy="228600"/>
          </a:xfrm>
          <a:prstGeom prst="rect">
            <a:avLst/>
          </a:prstGeom>
          <a:noFill/>
        </p:spPr>
        <p:txBody>
          <a:bodyPr wrap="square" anchor="t">
            <a:spAutoFit/>
          </a:bodyPr>
          <a:lstStyle/>
          <a:p>
            <a:pPr algn="r"/>
            <a:r>
              <a:rPr sz="900" b="1">
                <a:solidFill>
                  <a:srgbClr val="94A3B8"/>
                </a:solidFill>
                <a:latin typeface="Aptos"/>
              </a:rPr>
              <a:t>09</a:t>
            </a:r>
          </a:p>
        </p:txBody>
      </p:sp>
      <p:sp>
        <p:nvSpPr>
          <p:cNvPr id="5" name="TextBox 4"/>
          <p:cNvSpPr txBox="1"/>
          <p:nvPr/>
        </p:nvSpPr>
        <p:spPr>
          <a:xfrm>
            <a:off x="640080" y="941832"/>
            <a:ext cx="10241280" cy="457200"/>
          </a:xfrm>
          <a:prstGeom prst="rect">
            <a:avLst/>
          </a:prstGeom>
          <a:noFill/>
        </p:spPr>
        <p:txBody>
          <a:bodyPr wrap="square" anchor="t">
            <a:spAutoFit/>
          </a:bodyPr>
          <a:lstStyle/>
          <a:p>
            <a:pPr algn="l"/>
            <a:r>
              <a:rPr sz="2200" b="1">
                <a:solidFill>
                  <a:srgbClr val="0F172A"/>
                </a:solidFill>
                <a:latin typeface="Aptos"/>
              </a:rPr>
              <a:t>Safety and auditability are part of the product, not afterthoughts.</a:t>
            </a:r>
          </a:p>
        </p:txBody>
      </p:sp>
      <p:sp>
        <p:nvSpPr>
          <p:cNvPr id="6" name="Rounded Rectangle 5"/>
          <p:cNvSpPr/>
          <p:nvPr/>
        </p:nvSpPr>
        <p:spPr>
          <a:xfrm>
            <a:off x="658368" y="1645920"/>
            <a:ext cx="5074920" cy="102412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810512"/>
            <a:ext cx="4389120" cy="228600"/>
          </a:xfrm>
          <a:prstGeom prst="rect">
            <a:avLst/>
          </a:prstGeom>
          <a:noFill/>
        </p:spPr>
        <p:txBody>
          <a:bodyPr wrap="square" anchor="t">
            <a:spAutoFit/>
          </a:bodyPr>
          <a:lstStyle/>
          <a:p>
            <a:pPr algn="l"/>
            <a:r>
              <a:rPr sz="1100" b="1">
                <a:solidFill>
                  <a:srgbClr val="2563EB"/>
                </a:solidFill>
                <a:latin typeface="Aptos"/>
              </a:rPr>
              <a:t>SOURCE DISCIPLINE</a:t>
            </a:r>
          </a:p>
        </p:txBody>
      </p:sp>
      <p:sp>
        <p:nvSpPr>
          <p:cNvPr id="8" name="TextBox 7"/>
          <p:cNvSpPr txBox="1"/>
          <p:nvPr/>
        </p:nvSpPr>
        <p:spPr>
          <a:xfrm>
            <a:off x="886968" y="2121408"/>
            <a:ext cx="4389120" cy="384048"/>
          </a:xfrm>
          <a:prstGeom prst="rect">
            <a:avLst/>
          </a:prstGeom>
          <a:noFill/>
        </p:spPr>
        <p:txBody>
          <a:bodyPr wrap="square" anchor="t">
            <a:spAutoFit/>
          </a:bodyPr>
          <a:lstStyle/>
          <a:p>
            <a:pPr algn="l"/>
            <a:r>
              <a:rPr sz="1100" b="0">
                <a:solidFill>
                  <a:srgbClr val="1E293B"/>
                </a:solidFill>
                <a:latin typeface="Aptos"/>
              </a:rPr>
              <a:t>SIIS is the troubleshooting knowledge source; the official catalog is the deeplink source.</a:t>
            </a:r>
          </a:p>
        </p:txBody>
      </p:sp>
      <p:sp>
        <p:nvSpPr>
          <p:cNvPr id="9" name="Rounded Rectangle 8"/>
          <p:cNvSpPr/>
          <p:nvPr/>
        </p:nvSpPr>
        <p:spPr>
          <a:xfrm>
            <a:off x="6236207" y="1645920"/>
            <a:ext cx="5074920" cy="102412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64807" y="1810512"/>
            <a:ext cx="4389120" cy="228600"/>
          </a:xfrm>
          <a:prstGeom prst="rect">
            <a:avLst/>
          </a:prstGeom>
          <a:noFill/>
        </p:spPr>
        <p:txBody>
          <a:bodyPr wrap="square" anchor="t">
            <a:spAutoFit/>
          </a:bodyPr>
          <a:lstStyle/>
          <a:p>
            <a:pPr algn="l"/>
            <a:r>
              <a:rPr sz="1100" b="1">
                <a:solidFill>
                  <a:srgbClr val="2563EB"/>
                </a:solidFill>
                <a:latin typeface="Aptos"/>
              </a:rPr>
              <a:t>NO INVENTED ACTIONS</a:t>
            </a:r>
          </a:p>
        </p:txBody>
      </p:sp>
      <p:sp>
        <p:nvSpPr>
          <p:cNvPr id="11" name="TextBox 10"/>
          <p:cNvSpPr txBox="1"/>
          <p:nvPr/>
        </p:nvSpPr>
        <p:spPr>
          <a:xfrm>
            <a:off x="6464807" y="2121408"/>
            <a:ext cx="4389120" cy="384048"/>
          </a:xfrm>
          <a:prstGeom prst="rect">
            <a:avLst/>
          </a:prstGeom>
          <a:noFill/>
        </p:spPr>
        <p:txBody>
          <a:bodyPr wrap="square" anchor="t">
            <a:spAutoFit/>
          </a:bodyPr>
          <a:lstStyle/>
          <a:p>
            <a:pPr algn="l"/>
            <a:r>
              <a:rPr sz="1100" b="0">
                <a:solidFill>
                  <a:srgbClr val="1E293B"/>
                </a:solidFill>
                <a:latin typeface="Aptos"/>
              </a:rPr>
              <a:t>No hard-coded or generated Android/system deeplinks in Theme 2.</a:t>
            </a:r>
          </a:p>
        </p:txBody>
      </p:sp>
      <p:sp>
        <p:nvSpPr>
          <p:cNvPr id="12" name="Rounded Rectangle 11"/>
          <p:cNvSpPr/>
          <p:nvPr/>
        </p:nvSpPr>
        <p:spPr>
          <a:xfrm>
            <a:off x="658368" y="2971800"/>
            <a:ext cx="5074920" cy="102412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86968" y="3136392"/>
            <a:ext cx="4389120" cy="228600"/>
          </a:xfrm>
          <a:prstGeom prst="rect">
            <a:avLst/>
          </a:prstGeom>
          <a:noFill/>
        </p:spPr>
        <p:txBody>
          <a:bodyPr wrap="square" anchor="t">
            <a:spAutoFit/>
          </a:bodyPr>
          <a:lstStyle/>
          <a:p>
            <a:pPr algn="l"/>
            <a:r>
              <a:rPr sz="1100" b="1">
                <a:solidFill>
                  <a:srgbClr val="2563EB"/>
                </a:solidFill>
                <a:latin typeface="Aptos"/>
              </a:rPr>
              <a:t>FAIL-SAFE MANUAL MODE</a:t>
            </a:r>
          </a:p>
        </p:txBody>
      </p:sp>
      <p:sp>
        <p:nvSpPr>
          <p:cNvPr id="14" name="TextBox 13"/>
          <p:cNvSpPr txBox="1"/>
          <p:nvPr/>
        </p:nvSpPr>
        <p:spPr>
          <a:xfrm>
            <a:off x="886968" y="3447288"/>
            <a:ext cx="4389120" cy="384048"/>
          </a:xfrm>
          <a:prstGeom prst="rect">
            <a:avLst/>
          </a:prstGeom>
          <a:noFill/>
        </p:spPr>
        <p:txBody>
          <a:bodyPr wrap="square" anchor="t">
            <a:spAutoFit/>
          </a:bodyPr>
          <a:lstStyle/>
          <a:p>
            <a:pPr algn="l"/>
            <a:r>
              <a:rPr sz="1100" b="0">
                <a:solidFill>
                  <a:srgbClr val="1E293B"/>
                </a:solidFill>
                <a:latin typeface="Aptos"/>
              </a:rPr>
              <a:t>No exact match → manual action + null deeplinks.</a:t>
            </a:r>
          </a:p>
        </p:txBody>
      </p:sp>
      <p:sp>
        <p:nvSpPr>
          <p:cNvPr id="15" name="Rounded Rectangle 14"/>
          <p:cNvSpPr/>
          <p:nvPr/>
        </p:nvSpPr>
        <p:spPr>
          <a:xfrm>
            <a:off x="6236207" y="2971800"/>
            <a:ext cx="5074920" cy="102412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64807" y="3136392"/>
            <a:ext cx="4389120" cy="228600"/>
          </a:xfrm>
          <a:prstGeom prst="rect">
            <a:avLst/>
          </a:prstGeom>
          <a:noFill/>
        </p:spPr>
        <p:txBody>
          <a:bodyPr wrap="square" anchor="t">
            <a:spAutoFit/>
          </a:bodyPr>
          <a:lstStyle/>
          <a:p>
            <a:pPr algn="l"/>
            <a:r>
              <a:rPr sz="1100" b="1">
                <a:solidFill>
                  <a:srgbClr val="2563EB"/>
                </a:solidFill>
                <a:latin typeface="Aptos"/>
              </a:rPr>
              <a:t>CROSS-DEVICE ROUTING</a:t>
            </a:r>
          </a:p>
        </p:txBody>
      </p:sp>
      <p:sp>
        <p:nvSpPr>
          <p:cNvPr id="17" name="TextBox 16"/>
          <p:cNvSpPr txBox="1"/>
          <p:nvPr/>
        </p:nvSpPr>
        <p:spPr>
          <a:xfrm>
            <a:off x="6464807" y="3447288"/>
            <a:ext cx="4389120" cy="384048"/>
          </a:xfrm>
          <a:prstGeom prst="rect">
            <a:avLst/>
          </a:prstGeom>
          <a:noFill/>
        </p:spPr>
        <p:txBody>
          <a:bodyPr wrap="square" anchor="t">
            <a:spAutoFit/>
          </a:bodyPr>
          <a:lstStyle/>
          <a:p>
            <a:pPr algn="l"/>
            <a:r>
              <a:rPr sz="1100" b="0">
                <a:solidFill>
                  <a:srgbClr val="1E293B"/>
                </a:solidFill>
                <a:latin typeface="Aptos"/>
              </a:rPr>
              <a:t>Theme 2 routing is driven by symptom/intent patterns, not a single brand/model keyword.</a:t>
            </a:r>
          </a:p>
        </p:txBody>
      </p:sp>
      <p:sp>
        <p:nvSpPr>
          <p:cNvPr id="18" name="Rounded Rectangle 17"/>
          <p:cNvSpPr/>
          <p:nvPr/>
        </p:nvSpPr>
        <p:spPr>
          <a:xfrm>
            <a:off x="658368" y="4297680"/>
            <a:ext cx="5074920" cy="102412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6968" y="4462272"/>
            <a:ext cx="4389120" cy="228600"/>
          </a:xfrm>
          <a:prstGeom prst="rect">
            <a:avLst/>
          </a:prstGeom>
          <a:noFill/>
        </p:spPr>
        <p:txBody>
          <a:bodyPr wrap="square" anchor="t">
            <a:spAutoFit/>
          </a:bodyPr>
          <a:lstStyle/>
          <a:p>
            <a:pPr algn="l"/>
            <a:r>
              <a:rPr sz="1100" b="1">
                <a:solidFill>
                  <a:srgbClr val="2563EB"/>
                </a:solidFill>
                <a:latin typeface="Aptos"/>
              </a:rPr>
              <a:t>LEGACY COMPATIBILITY</a:t>
            </a:r>
          </a:p>
        </p:txBody>
      </p:sp>
      <p:sp>
        <p:nvSpPr>
          <p:cNvPr id="20" name="TextBox 19"/>
          <p:cNvSpPr txBox="1"/>
          <p:nvPr/>
        </p:nvSpPr>
        <p:spPr>
          <a:xfrm>
            <a:off x="886968" y="4773168"/>
            <a:ext cx="4389120" cy="384048"/>
          </a:xfrm>
          <a:prstGeom prst="rect">
            <a:avLst/>
          </a:prstGeom>
          <a:noFill/>
        </p:spPr>
        <p:txBody>
          <a:bodyPr wrap="square" anchor="t">
            <a:spAutoFit/>
          </a:bodyPr>
          <a:lstStyle/>
          <a:p>
            <a:pPr algn="l"/>
            <a:r>
              <a:rPr sz="1100" b="0">
                <a:solidFill>
                  <a:srgbClr val="1E293B"/>
                </a:solidFill>
                <a:latin typeface="Aptos"/>
              </a:rPr>
              <a:t>Standard /api/troubleshoot flow remains intact while Theme 2 uses /v1/troubleshoot.</a:t>
            </a:r>
          </a:p>
        </p:txBody>
      </p:sp>
      <p:sp>
        <p:nvSpPr>
          <p:cNvPr id="21" name="Rounded Rectangle 20"/>
          <p:cNvSpPr/>
          <p:nvPr/>
        </p:nvSpPr>
        <p:spPr>
          <a:xfrm>
            <a:off x="6236207" y="4297680"/>
            <a:ext cx="5074920" cy="102412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7" y="4462272"/>
            <a:ext cx="4389120" cy="228600"/>
          </a:xfrm>
          <a:prstGeom prst="rect">
            <a:avLst/>
          </a:prstGeom>
          <a:noFill/>
        </p:spPr>
        <p:txBody>
          <a:bodyPr wrap="square" anchor="t">
            <a:spAutoFit/>
          </a:bodyPr>
          <a:lstStyle/>
          <a:p>
            <a:pPr algn="l"/>
            <a:r>
              <a:rPr sz="1100" b="1">
                <a:solidFill>
                  <a:srgbClr val="2563EB"/>
                </a:solidFill>
                <a:latin typeface="Aptos"/>
              </a:rPr>
              <a:t>REPRODUCIBLE DEPLOYMENT</a:t>
            </a:r>
          </a:p>
        </p:txBody>
      </p:sp>
      <p:sp>
        <p:nvSpPr>
          <p:cNvPr id="23" name="TextBox 22"/>
          <p:cNvSpPr txBox="1"/>
          <p:nvPr/>
        </p:nvSpPr>
        <p:spPr>
          <a:xfrm>
            <a:off x="6464807" y="4773168"/>
            <a:ext cx="4389120" cy="384048"/>
          </a:xfrm>
          <a:prstGeom prst="rect">
            <a:avLst/>
          </a:prstGeom>
          <a:noFill/>
        </p:spPr>
        <p:txBody>
          <a:bodyPr wrap="square" anchor="t">
            <a:spAutoFit/>
          </a:bodyPr>
          <a:lstStyle/>
          <a:p>
            <a:pPr algn="l"/>
            <a:r>
              <a:rPr sz="1100" b="0">
                <a:solidFill>
                  <a:srgbClr val="1E293B"/>
                </a:solidFill>
                <a:latin typeface="Aptos"/>
              </a:rPr>
              <a:t>Docker build, health check and production server path are verified.</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1323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8961120" cy="384048"/>
          </a:xfrm>
          <a:prstGeom prst="rect">
            <a:avLst/>
          </a:prstGeom>
          <a:noFill/>
        </p:spPr>
        <p:txBody>
          <a:bodyPr wrap="square" anchor="t">
            <a:spAutoFit/>
          </a:bodyPr>
          <a:lstStyle/>
          <a:p>
            <a:pPr algn="l"/>
            <a:r>
              <a:rPr sz="2400" b="1">
                <a:solidFill>
                  <a:srgbClr val="FFFFFF"/>
                </a:solidFill>
                <a:latin typeface="Aptos"/>
              </a:rPr>
              <a:t>Checklist — Updated on Public GitHub</a:t>
            </a:r>
          </a:p>
        </p:txBody>
      </p:sp>
      <p:sp>
        <p:nvSpPr>
          <p:cNvPr id="4" name="TextBox 3"/>
          <p:cNvSpPr txBox="1"/>
          <p:nvPr/>
        </p:nvSpPr>
        <p:spPr>
          <a:xfrm>
            <a:off x="10698480" y="192024"/>
            <a:ext cx="731520" cy="228600"/>
          </a:xfrm>
          <a:prstGeom prst="rect">
            <a:avLst/>
          </a:prstGeom>
          <a:noFill/>
        </p:spPr>
        <p:txBody>
          <a:bodyPr wrap="square" anchor="t">
            <a:spAutoFit/>
          </a:bodyPr>
          <a:lstStyle/>
          <a:p>
            <a:pPr algn="r"/>
            <a:r>
              <a:rPr sz="900" b="1">
                <a:solidFill>
                  <a:srgbClr val="94A3B8"/>
                </a:solidFill>
                <a:latin typeface="Aptos"/>
              </a:rPr>
              <a:t>10</a:t>
            </a:r>
          </a:p>
        </p:txBody>
      </p:sp>
      <p:sp>
        <p:nvSpPr>
          <p:cNvPr id="5" name="Rounded Rectangle 4"/>
          <p:cNvSpPr/>
          <p:nvPr/>
        </p:nvSpPr>
        <p:spPr>
          <a:xfrm>
            <a:off x="658368" y="1234440"/>
            <a:ext cx="10881360" cy="60350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399032"/>
            <a:ext cx="3429000" cy="228600"/>
          </a:xfrm>
          <a:prstGeom prst="rect">
            <a:avLst/>
          </a:prstGeom>
          <a:noFill/>
        </p:spPr>
        <p:txBody>
          <a:bodyPr wrap="square" anchor="t">
            <a:spAutoFit/>
          </a:bodyPr>
          <a:lstStyle/>
          <a:p>
            <a:pPr algn="l"/>
            <a:r>
              <a:rPr sz="1200" b="1">
                <a:solidFill>
                  <a:srgbClr val="0F172A"/>
                </a:solidFill>
                <a:latin typeface="Aptos"/>
              </a:rPr>
              <a:t>Working prototype code</a:t>
            </a:r>
          </a:p>
        </p:txBody>
      </p:sp>
      <p:sp>
        <p:nvSpPr>
          <p:cNvPr id="7" name="TextBox 6"/>
          <p:cNvSpPr txBox="1"/>
          <p:nvPr/>
        </p:nvSpPr>
        <p:spPr>
          <a:xfrm>
            <a:off x="4480560" y="1399032"/>
            <a:ext cx="1051560" cy="228600"/>
          </a:xfrm>
          <a:prstGeom prst="rect">
            <a:avLst/>
          </a:prstGeom>
          <a:noFill/>
        </p:spPr>
        <p:txBody>
          <a:bodyPr wrap="square" anchor="t">
            <a:spAutoFit/>
          </a:bodyPr>
          <a:lstStyle/>
          <a:p>
            <a:pPr algn="ctr"/>
            <a:r>
              <a:rPr sz="1100" b="1">
                <a:solidFill>
                  <a:srgbClr val="16A34A"/>
                </a:solidFill>
                <a:latin typeface="Aptos"/>
              </a:rPr>
              <a:t>YES</a:t>
            </a:r>
          </a:p>
        </p:txBody>
      </p:sp>
      <p:sp>
        <p:nvSpPr>
          <p:cNvPr id="8" name="TextBox 7"/>
          <p:cNvSpPr txBox="1"/>
          <p:nvPr/>
        </p:nvSpPr>
        <p:spPr>
          <a:xfrm>
            <a:off x="5669280" y="1399032"/>
            <a:ext cx="5394960" cy="228600"/>
          </a:xfrm>
          <a:prstGeom prst="rect">
            <a:avLst/>
          </a:prstGeom>
          <a:noFill/>
        </p:spPr>
        <p:txBody>
          <a:bodyPr wrap="square" anchor="t">
            <a:spAutoFit/>
          </a:bodyPr>
          <a:lstStyle/>
          <a:p>
            <a:pPr algn="l"/>
            <a:r>
              <a:rPr sz="1100" b="0">
                <a:solidFill>
                  <a:srgbClr val="64748B"/>
                </a:solidFill>
                <a:latin typeface="Aptos"/>
              </a:rPr>
              <a:t>Theme 2 + standard pipeline implemented</a:t>
            </a:r>
          </a:p>
        </p:txBody>
      </p:sp>
      <p:sp>
        <p:nvSpPr>
          <p:cNvPr id="9" name="Rounded Rectangle 8"/>
          <p:cNvSpPr/>
          <p:nvPr/>
        </p:nvSpPr>
        <p:spPr>
          <a:xfrm>
            <a:off x="658368" y="1892808"/>
            <a:ext cx="10881360" cy="60350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2057400"/>
            <a:ext cx="3429000" cy="228600"/>
          </a:xfrm>
          <a:prstGeom prst="rect">
            <a:avLst/>
          </a:prstGeom>
          <a:noFill/>
        </p:spPr>
        <p:txBody>
          <a:bodyPr wrap="square" anchor="t">
            <a:spAutoFit/>
          </a:bodyPr>
          <a:lstStyle/>
          <a:p>
            <a:pPr algn="l"/>
            <a:r>
              <a:rPr sz="1200" b="1">
                <a:solidFill>
                  <a:srgbClr val="0F172A"/>
                </a:solidFill>
                <a:latin typeface="Aptos"/>
              </a:rPr>
              <a:t>README with reproducible setup</a:t>
            </a:r>
          </a:p>
        </p:txBody>
      </p:sp>
      <p:sp>
        <p:nvSpPr>
          <p:cNvPr id="11" name="TextBox 10"/>
          <p:cNvSpPr txBox="1"/>
          <p:nvPr/>
        </p:nvSpPr>
        <p:spPr>
          <a:xfrm>
            <a:off x="4480560" y="2057400"/>
            <a:ext cx="1051560" cy="228600"/>
          </a:xfrm>
          <a:prstGeom prst="rect">
            <a:avLst/>
          </a:prstGeom>
          <a:noFill/>
        </p:spPr>
        <p:txBody>
          <a:bodyPr wrap="square" anchor="t">
            <a:spAutoFit/>
          </a:bodyPr>
          <a:lstStyle/>
          <a:p>
            <a:pPr algn="ctr"/>
            <a:r>
              <a:rPr sz="1100" b="1">
                <a:solidFill>
                  <a:srgbClr val="16A34A"/>
                </a:solidFill>
                <a:latin typeface="Aptos"/>
              </a:rPr>
              <a:t>YES</a:t>
            </a:r>
          </a:p>
        </p:txBody>
      </p:sp>
      <p:sp>
        <p:nvSpPr>
          <p:cNvPr id="12" name="TextBox 11"/>
          <p:cNvSpPr txBox="1"/>
          <p:nvPr/>
        </p:nvSpPr>
        <p:spPr>
          <a:xfrm>
            <a:off x="5669280" y="2057400"/>
            <a:ext cx="5394960" cy="228600"/>
          </a:xfrm>
          <a:prstGeom prst="rect">
            <a:avLst/>
          </a:prstGeom>
          <a:noFill/>
        </p:spPr>
        <p:txBody>
          <a:bodyPr wrap="square" anchor="t">
            <a:spAutoFit/>
          </a:bodyPr>
          <a:lstStyle/>
          <a:p>
            <a:pPr algn="l"/>
            <a:r>
              <a:rPr sz="1100" b="0">
                <a:solidFill>
                  <a:srgbClr val="64748B"/>
                </a:solidFill>
                <a:latin typeface="Aptos"/>
              </a:rPr>
              <a:t>Setup, architecture, tests and Docker documented</a:t>
            </a:r>
          </a:p>
        </p:txBody>
      </p:sp>
      <p:sp>
        <p:nvSpPr>
          <p:cNvPr id="13" name="Rounded Rectangle 12"/>
          <p:cNvSpPr/>
          <p:nvPr/>
        </p:nvSpPr>
        <p:spPr>
          <a:xfrm>
            <a:off x="658368" y="2551176"/>
            <a:ext cx="10881360" cy="60350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6112" y="2715768"/>
            <a:ext cx="3429000" cy="228600"/>
          </a:xfrm>
          <a:prstGeom prst="rect">
            <a:avLst/>
          </a:prstGeom>
          <a:noFill/>
        </p:spPr>
        <p:txBody>
          <a:bodyPr wrap="square" anchor="t">
            <a:spAutoFit/>
          </a:bodyPr>
          <a:lstStyle/>
          <a:p>
            <a:pPr algn="l"/>
            <a:r>
              <a:rPr sz="1200" b="1">
                <a:solidFill>
                  <a:srgbClr val="0F172A"/>
                </a:solidFill>
                <a:latin typeface="Aptos"/>
              </a:rPr>
              <a:t>Docker files</a:t>
            </a:r>
          </a:p>
        </p:txBody>
      </p:sp>
      <p:sp>
        <p:nvSpPr>
          <p:cNvPr id="15" name="TextBox 14"/>
          <p:cNvSpPr txBox="1"/>
          <p:nvPr/>
        </p:nvSpPr>
        <p:spPr>
          <a:xfrm>
            <a:off x="4480560" y="2715768"/>
            <a:ext cx="1051560" cy="228600"/>
          </a:xfrm>
          <a:prstGeom prst="rect">
            <a:avLst/>
          </a:prstGeom>
          <a:noFill/>
        </p:spPr>
        <p:txBody>
          <a:bodyPr wrap="square" anchor="t">
            <a:spAutoFit/>
          </a:bodyPr>
          <a:lstStyle/>
          <a:p>
            <a:pPr algn="ctr"/>
            <a:r>
              <a:rPr sz="1100" b="1" dirty="0">
                <a:solidFill>
                  <a:srgbClr val="16A34A"/>
                </a:solidFill>
                <a:latin typeface="Aptos"/>
              </a:rPr>
              <a:t>YES</a:t>
            </a:r>
          </a:p>
        </p:txBody>
      </p:sp>
      <p:sp>
        <p:nvSpPr>
          <p:cNvPr id="16" name="TextBox 15"/>
          <p:cNvSpPr txBox="1"/>
          <p:nvPr/>
        </p:nvSpPr>
        <p:spPr>
          <a:xfrm>
            <a:off x="5669280" y="2715768"/>
            <a:ext cx="5394960" cy="228600"/>
          </a:xfrm>
          <a:prstGeom prst="rect">
            <a:avLst/>
          </a:prstGeom>
          <a:noFill/>
        </p:spPr>
        <p:txBody>
          <a:bodyPr wrap="square" anchor="t">
            <a:spAutoFit/>
          </a:bodyPr>
          <a:lstStyle/>
          <a:p>
            <a:pPr algn="l"/>
            <a:r>
              <a:rPr sz="1100" b="0">
                <a:solidFill>
                  <a:srgbClr val="64748B"/>
                </a:solidFill>
                <a:latin typeface="Aptos"/>
              </a:rPr>
              <a:t>Dockerfile + docker-compose.yml verified</a:t>
            </a:r>
          </a:p>
        </p:txBody>
      </p:sp>
      <p:sp>
        <p:nvSpPr>
          <p:cNvPr id="17" name="Rounded Rectangle 16"/>
          <p:cNvSpPr/>
          <p:nvPr/>
        </p:nvSpPr>
        <p:spPr>
          <a:xfrm>
            <a:off x="658368" y="3209544"/>
            <a:ext cx="10881360" cy="60350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6112" y="3374136"/>
            <a:ext cx="3429000" cy="228600"/>
          </a:xfrm>
          <a:prstGeom prst="rect">
            <a:avLst/>
          </a:prstGeom>
          <a:noFill/>
        </p:spPr>
        <p:txBody>
          <a:bodyPr wrap="square" anchor="t">
            <a:spAutoFit/>
          </a:bodyPr>
          <a:lstStyle/>
          <a:p>
            <a:pPr algn="l"/>
            <a:r>
              <a:rPr sz="1200" b="1">
                <a:solidFill>
                  <a:srgbClr val="0F172A"/>
                </a:solidFill>
                <a:latin typeface="Aptos"/>
              </a:rPr>
              <a:t>Demo video (≤5 min)</a:t>
            </a:r>
          </a:p>
        </p:txBody>
      </p:sp>
      <p:sp>
        <p:nvSpPr>
          <p:cNvPr id="19" name="TextBox 18"/>
          <p:cNvSpPr txBox="1"/>
          <p:nvPr/>
        </p:nvSpPr>
        <p:spPr>
          <a:xfrm>
            <a:off x="4480560" y="3374136"/>
            <a:ext cx="1051560" cy="261610"/>
          </a:xfrm>
          <a:prstGeom prst="rect">
            <a:avLst/>
          </a:prstGeom>
          <a:noFill/>
        </p:spPr>
        <p:txBody>
          <a:bodyPr wrap="square" anchor="t">
            <a:spAutoFit/>
          </a:bodyPr>
          <a:lstStyle/>
          <a:p>
            <a:pPr algn="ctr"/>
            <a:r>
              <a:rPr lang="en-IN" sz="1100" b="1" dirty="0">
                <a:solidFill>
                  <a:srgbClr val="16A34A"/>
                </a:solidFill>
                <a:latin typeface="Aptos"/>
              </a:rPr>
              <a:t>YES</a:t>
            </a:r>
            <a:endParaRPr sz="1100" b="1" dirty="0">
              <a:solidFill>
                <a:srgbClr val="16A34A"/>
              </a:solidFill>
              <a:latin typeface="Aptos"/>
            </a:endParaRPr>
          </a:p>
        </p:txBody>
      </p:sp>
      <p:sp>
        <p:nvSpPr>
          <p:cNvPr id="20" name="TextBox 19"/>
          <p:cNvSpPr txBox="1"/>
          <p:nvPr/>
        </p:nvSpPr>
        <p:spPr>
          <a:xfrm>
            <a:off x="5669280" y="3374136"/>
            <a:ext cx="5394960" cy="261610"/>
          </a:xfrm>
          <a:prstGeom prst="rect">
            <a:avLst/>
          </a:prstGeom>
          <a:noFill/>
        </p:spPr>
        <p:txBody>
          <a:bodyPr wrap="square" anchor="t">
            <a:spAutoFit/>
          </a:bodyPr>
          <a:lstStyle/>
          <a:p>
            <a:r>
              <a:rPr lang="en-IN" sz="1100" dirty="0">
                <a:solidFill>
                  <a:srgbClr val="64748B"/>
                </a:solidFill>
                <a:latin typeface="Aptos"/>
              </a:rPr>
              <a:t>https://drive.google.com/drive/folders/16d2uvFt4UwxQzS863Dq47zodSQgyFspO</a:t>
            </a:r>
            <a:endParaRPr sz="1100" b="0" dirty="0">
              <a:solidFill>
                <a:srgbClr val="64748B"/>
              </a:solidFill>
              <a:latin typeface="Aptos"/>
            </a:endParaRPr>
          </a:p>
        </p:txBody>
      </p:sp>
      <p:sp>
        <p:nvSpPr>
          <p:cNvPr id="21" name="Rounded Rectangle 20"/>
          <p:cNvSpPr/>
          <p:nvPr/>
        </p:nvSpPr>
        <p:spPr>
          <a:xfrm>
            <a:off x="658368" y="3867911"/>
            <a:ext cx="10881360" cy="60350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6112" y="4032503"/>
            <a:ext cx="3429000" cy="228600"/>
          </a:xfrm>
          <a:prstGeom prst="rect">
            <a:avLst/>
          </a:prstGeom>
          <a:noFill/>
        </p:spPr>
        <p:txBody>
          <a:bodyPr wrap="square" anchor="t">
            <a:spAutoFit/>
          </a:bodyPr>
          <a:lstStyle/>
          <a:p>
            <a:pPr algn="l"/>
            <a:r>
              <a:rPr sz="1200" b="1">
                <a:solidFill>
                  <a:srgbClr val="0F172A"/>
                </a:solidFill>
                <a:latin typeface="Aptos"/>
              </a:rPr>
              <a:t>Presentation file</a:t>
            </a:r>
          </a:p>
        </p:txBody>
      </p:sp>
      <p:sp>
        <p:nvSpPr>
          <p:cNvPr id="23" name="TextBox 22"/>
          <p:cNvSpPr txBox="1"/>
          <p:nvPr/>
        </p:nvSpPr>
        <p:spPr>
          <a:xfrm>
            <a:off x="4480560" y="4032503"/>
            <a:ext cx="1051560" cy="228600"/>
          </a:xfrm>
          <a:prstGeom prst="rect">
            <a:avLst/>
          </a:prstGeom>
          <a:noFill/>
        </p:spPr>
        <p:txBody>
          <a:bodyPr wrap="square" anchor="t">
            <a:spAutoFit/>
          </a:bodyPr>
          <a:lstStyle/>
          <a:p>
            <a:pPr algn="ctr"/>
            <a:r>
              <a:rPr sz="1100" b="1">
                <a:solidFill>
                  <a:srgbClr val="16A34A"/>
                </a:solidFill>
                <a:latin typeface="Aptos"/>
              </a:rPr>
              <a:t>YES</a:t>
            </a:r>
          </a:p>
        </p:txBody>
      </p:sp>
      <p:sp>
        <p:nvSpPr>
          <p:cNvPr id="24" name="TextBox 23"/>
          <p:cNvSpPr txBox="1"/>
          <p:nvPr/>
        </p:nvSpPr>
        <p:spPr>
          <a:xfrm>
            <a:off x="5669280" y="4032503"/>
            <a:ext cx="5394960" cy="228600"/>
          </a:xfrm>
          <a:prstGeom prst="rect">
            <a:avLst/>
          </a:prstGeom>
          <a:noFill/>
        </p:spPr>
        <p:txBody>
          <a:bodyPr wrap="square" anchor="t">
            <a:spAutoFit/>
          </a:bodyPr>
          <a:lstStyle/>
          <a:p>
            <a:pPr algn="l"/>
            <a:r>
              <a:rPr sz="1100" b="0">
                <a:solidFill>
                  <a:srgbClr val="64748B"/>
                </a:solidFill>
                <a:latin typeface="Aptos"/>
              </a:rPr>
              <a:t>This deck</a:t>
            </a:r>
          </a:p>
        </p:txBody>
      </p:sp>
      <p:sp>
        <p:nvSpPr>
          <p:cNvPr id="25" name="Rounded Rectangle 24"/>
          <p:cNvSpPr/>
          <p:nvPr/>
        </p:nvSpPr>
        <p:spPr>
          <a:xfrm>
            <a:off x="658368" y="4526279"/>
            <a:ext cx="10881360" cy="60350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6112" y="4690871"/>
            <a:ext cx="3429000" cy="228600"/>
          </a:xfrm>
          <a:prstGeom prst="rect">
            <a:avLst/>
          </a:prstGeom>
          <a:noFill/>
        </p:spPr>
        <p:txBody>
          <a:bodyPr wrap="square" anchor="t">
            <a:spAutoFit/>
          </a:bodyPr>
          <a:lstStyle/>
          <a:p>
            <a:pPr algn="l"/>
            <a:r>
              <a:rPr sz="1200" b="1">
                <a:solidFill>
                  <a:srgbClr val="0F172A"/>
                </a:solidFill>
                <a:latin typeface="Aptos"/>
              </a:rPr>
              <a:t>Final release tag</a:t>
            </a:r>
          </a:p>
        </p:txBody>
      </p:sp>
      <p:sp>
        <p:nvSpPr>
          <p:cNvPr id="27" name="TextBox 26"/>
          <p:cNvSpPr txBox="1"/>
          <p:nvPr/>
        </p:nvSpPr>
        <p:spPr>
          <a:xfrm>
            <a:off x="4480560" y="4690871"/>
            <a:ext cx="1051560" cy="261610"/>
          </a:xfrm>
          <a:prstGeom prst="rect">
            <a:avLst/>
          </a:prstGeom>
          <a:noFill/>
        </p:spPr>
        <p:txBody>
          <a:bodyPr wrap="square" anchor="t">
            <a:spAutoFit/>
          </a:bodyPr>
          <a:lstStyle/>
          <a:p>
            <a:pPr algn="ctr"/>
            <a:r>
              <a:rPr lang="en-IN" sz="1100" b="1" dirty="0">
                <a:solidFill>
                  <a:srgbClr val="16A34A"/>
                </a:solidFill>
                <a:latin typeface="Aptos"/>
              </a:rPr>
              <a:t>YES</a:t>
            </a:r>
            <a:endParaRPr sz="1100" b="1" dirty="0">
              <a:solidFill>
                <a:srgbClr val="16A34A"/>
              </a:solidFill>
              <a:latin typeface="Aptos"/>
            </a:endParaRPr>
          </a:p>
        </p:txBody>
      </p:sp>
      <p:sp>
        <p:nvSpPr>
          <p:cNvPr id="28" name="TextBox 27"/>
          <p:cNvSpPr txBox="1"/>
          <p:nvPr/>
        </p:nvSpPr>
        <p:spPr>
          <a:xfrm>
            <a:off x="5669280" y="4690871"/>
            <a:ext cx="5394960" cy="228600"/>
          </a:xfrm>
          <a:prstGeom prst="rect">
            <a:avLst/>
          </a:prstGeom>
          <a:noFill/>
        </p:spPr>
        <p:txBody>
          <a:bodyPr wrap="square" anchor="t">
            <a:spAutoFit/>
          </a:bodyPr>
          <a:lstStyle/>
          <a:p>
            <a:pPr algn="l"/>
            <a:r>
              <a:rPr sz="1100" b="0" dirty="0">
                <a:solidFill>
                  <a:srgbClr val="64748B"/>
                </a:solidFill>
                <a:latin typeface="Aptos"/>
              </a:rPr>
              <a:t>PRISM_GENAI_HACKATHON_Y2026</a:t>
            </a:r>
          </a:p>
        </p:txBody>
      </p:sp>
      <p:sp>
        <p:nvSpPr>
          <p:cNvPr id="29" name="Rounded Rectangle 28"/>
          <p:cNvSpPr/>
          <p:nvPr/>
        </p:nvSpPr>
        <p:spPr>
          <a:xfrm>
            <a:off x="658368" y="5184647"/>
            <a:ext cx="10881360" cy="60350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96112" y="5349239"/>
            <a:ext cx="3429000" cy="228600"/>
          </a:xfrm>
          <a:prstGeom prst="rect">
            <a:avLst/>
          </a:prstGeom>
          <a:noFill/>
        </p:spPr>
        <p:txBody>
          <a:bodyPr wrap="square" anchor="t">
            <a:spAutoFit/>
          </a:bodyPr>
          <a:lstStyle/>
          <a:p>
            <a:pPr algn="l"/>
            <a:r>
              <a:rPr sz="1200" b="1">
                <a:solidFill>
                  <a:srgbClr val="0F172A"/>
                </a:solidFill>
                <a:latin typeface="Aptos"/>
              </a:rPr>
              <a:t>Submission GitHub link</a:t>
            </a:r>
          </a:p>
        </p:txBody>
      </p:sp>
      <p:sp>
        <p:nvSpPr>
          <p:cNvPr id="31" name="TextBox 30"/>
          <p:cNvSpPr txBox="1"/>
          <p:nvPr/>
        </p:nvSpPr>
        <p:spPr>
          <a:xfrm>
            <a:off x="4480560" y="5349239"/>
            <a:ext cx="1051560" cy="261610"/>
          </a:xfrm>
          <a:prstGeom prst="rect">
            <a:avLst/>
          </a:prstGeom>
          <a:noFill/>
        </p:spPr>
        <p:txBody>
          <a:bodyPr wrap="square" anchor="t">
            <a:spAutoFit/>
          </a:bodyPr>
          <a:lstStyle/>
          <a:p>
            <a:pPr algn="ctr"/>
            <a:r>
              <a:rPr lang="en-IN" sz="1100" b="1" dirty="0">
                <a:solidFill>
                  <a:srgbClr val="16A34A"/>
                </a:solidFill>
                <a:latin typeface="Aptos"/>
              </a:rPr>
              <a:t>YES</a:t>
            </a:r>
            <a:endParaRPr sz="1100" b="1" dirty="0">
              <a:solidFill>
                <a:srgbClr val="16A34A"/>
              </a:solidFill>
              <a:latin typeface="Aptos"/>
            </a:endParaRPr>
          </a:p>
        </p:txBody>
      </p:sp>
      <p:sp>
        <p:nvSpPr>
          <p:cNvPr id="32" name="TextBox 31"/>
          <p:cNvSpPr txBox="1"/>
          <p:nvPr/>
        </p:nvSpPr>
        <p:spPr>
          <a:xfrm>
            <a:off x="5669280" y="5349239"/>
            <a:ext cx="5394960" cy="261610"/>
          </a:xfrm>
          <a:prstGeom prst="rect">
            <a:avLst/>
          </a:prstGeom>
          <a:noFill/>
        </p:spPr>
        <p:txBody>
          <a:bodyPr wrap="square" anchor="t">
            <a:spAutoFit/>
          </a:bodyPr>
          <a:lstStyle/>
          <a:p>
            <a:r>
              <a:rPr lang="en-IN" sz="1100" dirty="0">
                <a:solidFill>
                  <a:srgbClr val="64748B"/>
                </a:solidFill>
                <a:latin typeface="Aptos"/>
              </a:rPr>
              <a:t>https://github.com/Akira324/samsung-fixit-ai/tree/theme2</a:t>
            </a:r>
            <a:endParaRPr sz="1100" b="0" dirty="0">
              <a:solidFill>
                <a:srgbClr val="64748B"/>
              </a:solidFill>
              <a:latin typeface="Aptos"/>
            </a:endParaRP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325880"/>
            <a:ext cx="5029200" cy="548640"/>
          </a:xfrm>
          <a:prstGeom prst="rect">
            <a:avLst/>
          </a:prstGeom>
          <a:noFill/>
        </p:spPr>
        <p:txBody>
          <a:bodyPr wrap="square" anchor="t">
            <a:spAutoFit/>
          </a:bodyPr>
          <a:lstStyle/>
          <a:p>
            <a:pPr algn="l"/>
            <a:r>
              <a:rPr sz="3400" b="1">
                <a:solidFill>
                  <a:srgbClr val="FFFFFF"/>
                </a:solidFill>
                <a:latin typeface="Aptos"/>
              </a:rPr>
              <a:t>THANK YOU</a:t>
            </a:r>
          </a:p>
        </p:txBody>
      </p:sp>
      <p:sp>
        <p:nvSpPr>
          <p:cNvPr id="4" name="TextBox 3"/>
          <p:cNvSpPr txBox="1"/>
          <p:nvPr/>
        </p:nvSpPr>
        <p:spPr>
          <a:xfrm>
            <a:off x="640080" y="2148840"/>
            <a:ext cx="5669280" cy="457200"/>
          </a:xfrm>
          <a:prstGeom prst="rect">
            <a:avLst/>
          </a:prstGeom>
          <a:noFill/>
        </p:spPr>
        <p:txBody>
          <a:bodyPr wrap="square" anchor="t">
            <a:spAutoFit/>
          </a:bodyPr>
          <a:lstStyle/>
          <a:p>
            <a:pPr algn="l"/>
            <a:r>
              <a:rPr sz="2200" b="1">
                <a:solidFill>
                  <a:srgbClr val="06B6D4"/>
                </a:solidFill>
                <a:latin typeface="Aptos"/>
              </a:rPr>
              <a:t>Samsung Fixit AI</a:t>
            </a:r>
          </a:p>
        </p:txBody>
      </p:sp>
      <p:sp>
        <p:nvSpPr>
          <p:cNvPr id="5" name="TextBox 4"/>
          <p:cNvSpPr txBox="1"/>
          <p:nvPr/>
        </p:nvSpPr>
        <p:spPr>
          <a:xfrm>
            <a:off x="640080" y="2679192"/>
            <a:ext cx="7132320" cy="365760"/>
          </a:xfrm>
          <a:prstGeom prst="rect">
            <a:avLst/>
          </a:prstGeom>
          <a:noFill/>
        </p:spPr>
        <p:txBody>
          <a:bodyPr wrap="square" anchor="t">
            <a:spAutoFit/>
          </a:bodyPr>
          <a:lstStyle/>
          <a:p>
            <a:pPr algn="l"/>
            <a:r>
              <a:rPr sz="1700" b="0">
                <a:solidFill>
                  <a:srgbClr val="E2E8F0"/>
                </a:solidFill>
                <a:latin typeface="Aptos"/>
              </a:rPr>
              <a:t>Smart Guided Troubleshooting Engine</a:t>
            </a:r>
          </a:p>
        </p:txBody>
      </p:sp>
      <p:sp>
        <p:nvSpPr>
          <p:cNvPr id="6" name="Rectangle 5"/>
          <p:cNvSpPr/>
          <p:nvPr/>
        </p:nvSpPr>
        <p:spPr>
          <a:xfrm>
            <a:off x="640080" y="3401568"/>
            <a:ext cx="5486400" cy="27432"/>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794760"/>
            <a:ext cx="5486400" cy="320040"/>
          </a:xfrm>
          <a:prstGeom prst="rect">
            <a:avLst/>
          </a:prstGeom>
          <a:noFill/>
        </p:spPr>
        <p:txBody>
          <a:bodyPr wrap="square" anchor="t">
            <a:spAutoFit/>
          </a:bodyPr>
          <a:lstStyle/>
          <a:p>
            <a:pPr algn="l"/>
            <a:r>
              <a:rPr sz="1300" b="1">
                <a:solidFill>
                  <a:srgbClr val="FFFFFF"/>
                </a:solidFill>
                <a:latin typeface="Aptos"/>
              </a:rPr>
              <a:t>Clickbait  •  SRM University KTR</a:t>
            </a:r>
          </a:p>
        </p:txBody>
      </p:sp>
      <p:sp>
        <p:nvSpPr>
          <p:cNvPr id="8" name="TextBox 7"/>
          <p:cNvSpPr txBox="1"/>
          <p:nvPr/>
        </p:nvSpPr>
        <p:spPr>
          <a:xfrm>
            <a:off x="640080" y="4187952"/>
            <a:ext cx="3657600" cy="274320"/>
          </a:xfrm>
          <a:prstGeom prst="rect">
            <a:avLst/>
          </a:prstGeom>
          <a:noFill/>
        </p:spPr>
        <p:txBody>
          <a:bodyPr wrap="square" anchor="t">
            <a:spAutoFit/>
          </a:bodyPr>
          <a:lstStyle/>
          <a:p>
            <a:pPr algn="l"/>
            <a:r>
              <a:rPr sz="1200" b="0">
                <a:solidFill>
                  <a:srgbClr val="CBD5E1"/>
                </a:solidFill>
                <a:latin typeface="Aptos"/>
              </a:rPr>
              <a:t>Aarush Jain</a:t>
            </a:r>
          </a:p>
        </p:txBody>
      </p:sp>
      <p:sp>
        <p:nvSpPr>
          <p:cNvPr id="9" name="TextBox 8"/>
          <p:cNvSpPr txBox="1"/>
          <p:nvPr/>
        </p:nvSpPr>
        <p:spPr>
          <a:xfrm>
            <a:off x="640080" y="4517136"/>
            <a:ext cx="6400800" cy="274320"/>
          </a:xfrm>
          <a:prstGeom prst="rect">
            <a:avLst/>
          </a:prstGeom>
          <a:noFill/>
        </p:spPr>
        <p:txBody>
          <a:bodyPr wrap="square" anchor="t">
            <a:spAutoFit/>
          </a:bodyPr>
          <a:lstStyle/>
          <a:p>
            <a:pPr algn="l"/>
            <a:r>
              <a:rPr sz="1000" b="0">
                <a:solidFill>
                  <a:srgbClr val="94A3B8"/>
                </a:solidFill>
                <a:latin typeface="Aptos"/>
              </a:rPr>
              <a:t>jainaarush444@gmail.com  •  aj0000@srmist.edu.in</a:t>
            </a:r>
          </a:p>
        </p:txBody>
      </p:sp>
      <p:sp>
        <p:nvSpPr>
          <p:cNvPr id="10" name="TextBox 9"/>
          <p:cNvSpPr txBox="1"/>
          <p:nvPr/>
        </p:nvSpPr>
        <p:spPr>
          <a:xfrm>
            <a:off x="9144000" y="5166360"/>
            <a:ext cx="1828800" cy="274320"/>
          </a:xfrm>
          <a:prstGeom prst="rect">
            <a:avLst/>
          </a:prstGeom>
          <a:noFill/>
        </p:spPr>
        <p:txBody>
          <a:bodyPr wrap="square" anchor="t">
            <a:spAutoFit/>
          </a:bodyPr>
          <a:lstStyle/>
          <a:p>
            <a:pPr algn="r"/>
            <a:r>
              <a:rPr sz="1100" b="1">
                <a:solidFill>
                  <a:srgbClr val="06B6D4"/>
                </a:solidFill>
                <a:latin typeface="Aptos"/>
              </a:rPr>
              <a:t>Theme 2</a:t>
            </a:r>
          </a:p>
        </p:txBody>
      </p:sp>
      <p:sp>
        <p:nvSpPr>
          <p:cNvPr id="11" name="TextBox 10"/>
          <p:cNvSpPr txBox="1"/>
          <p:nvPr/>
        </p:nvSpPr>
        <p:spPr>
          <a:xfrm>
            <a:off x="7543800" y="5504688"/>
            <a:ext cx="3429000" cy="384048"/>
          </a:xfrm>
          <a:prstGeom prst="rect">
            <a:avLst/>
          </a:prstGeom>
          <a:noFill/>
        </p:spPr>
        <p:txBody>
          <a:bodyPr wrap="square" anchor="t">
            <a:spAutoFit/>
          </a:bodyPr>
          <a:lstStyle/>
          <a:p>
            <a:pPr algn="r"/>
            <a:r>
              <a:rPr sz="1100" b="0">
                <a:solidFill>
                  <a:srgbClr val="94A3B8"/>
                </a:solidFill>
                <a:latin typeface="Aptos"/>
              </a:rPr>
              <a:t>Smart Guided Troubleshooting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69</TotalTime>
  <Words>1178</Words>
  <Application>Microsoft Office PowerPoint</Application>
  <PresentationFormat>Widescreen</PresentationFormat>
  <Paragraphs>229</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Samsung Fixit AI — Smart Guided Troubleshooting Engine</dc:title>
  <dc:subject>Samsung PRISM Generative AI Hackathon 2026–27</dc:subject>
  <dc:creator>Clickbait — Aarush Jain</dc:creator>
  <cp:lastModifiedBy>Aarush Jain</cp:lastModifiedBy>
  <cp:revision>7</cp:revision>
  <dcterms:created xsi:type="dcterms:W3CDTF">2026-09-07T12:01:01Z</dcterms:created>
  <dcterms:modified xsi:type="dcterms:W3CDTF">2026-09-30T17:52:58Z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